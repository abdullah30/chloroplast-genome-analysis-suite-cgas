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62" r:id="rId4"/>
    <p:sldId id="263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6393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CGAS Module 3?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B22"/>
                </a:solidFill>
              </a:rPr>
              <a:t>Takes the normalized GenBank files from Module 2 and compares them gene-by-gene against a reference genome — standardizing names, flagging missing genes, and validating annotations for consistency.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Gene Name Normalization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Standardizes gene names 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reference nomenclature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handling case, separators,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and alternative names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Cross-Genome Comparison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Gene-by-gene presence 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absence · intron status ·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CDS length · product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description checks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Quality Reporting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276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Excel report with two sheets: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Comparison and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Normalization_Issues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for manual review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233672"/>
            <a:ext cx="9144000" cy="566928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233672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61104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6B55"/>
                </a:solidFill>
              </a:rPr>
              <a:t>Module 3 is the curation step — use it after Module 2 annotation and before Module 4 submission preparation.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Comparison &amp; Normalization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1170432"/>
          </a:xfrm>
          <a:prstGeom prst="rect">
            <a:avLst/>
          </a:prstGeom>
          <a:solidFill>
            <a:srgbClr val="E8F8EF"/>
          </a:solidFill>
          <a:ln w="254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79576"/>
            <a:ext cx="621792" cy="6217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95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0424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22"/>
                </a:solidFill>
              </a:rPr>
              <a:t>Input: Target GenBank Files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463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Module 2 output — normalized .gb files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50008" y="2103120"/>
            <a:ext cx="0" cy="164592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67712"/>
            <a:ext cx="4160520" cy="1170432"/>
          </a:xfrm>
          <a:prstGeom prst="rect">
            <a:avLst/>
          </a:prstGeom>
          <a:solidFill>
            <a:srgbClr val="E8F8EF"/>
          </a:solidFill>
          <a:ln w="25400">
            <a:solidFill>
              <a:srgbClr val="2471A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514600"/>
            <a:ext cx="621792" cy="621792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5146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2377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22"/>
                </a:solidFill>
              </a:rPr>
              <a:t>Input: Reference Genome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27980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Well-annotated .gb from a closely-related species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50008" y="3438144"/>
            <a:ext cx="0" cy="164592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602736"/>
            <a:ext cx="4160520" cy="1170432"/>
          </a:xfrm>
          <a:prstGeom prst="rect">
            <a:avLst/>
          </a:prstGeom>
          <a:solidFill>
            <a:srgbClr val="E8F8EF"/>
          </a:solidFill>
          <a:ln w="25400">
            <a:solidFill>
              <a:srgbClr val="7D3C9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849624"/>
            <a:ext cx="621792" cy="621792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8496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5568" y="37124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22"/>
                </a:solidFill>
              </a:rPr>
              <a:t>Gene Name Normalization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4133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Match target names to reference; flag unmatched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932688"/>
            <a:ext cx="4160520" cy="1170432"/>
          </a:xfrm>
          <a:prstGeom prst="rect">
            <a:avLst/>
          </a:prstGeom>
          <a:solidFill>
            <a:srgbClr val="E8F8EF"/>
          </a:solidFill>
          <a:ln w="25400">
            <a:solidFill>
              <a:srgbClr val="D354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4608" y="1179576"/>
            <a:ext cx="621792" cy="621792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1795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96128" y="10424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22"/>
                </a:solidFill>
              </a:rPr>
              <a:t>Product Description Sync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96128" y="1463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Copy missing /product qualifiers from reference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30568" y="2103120"/>
            <a:ext cx="0" cy="164592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267712"/>
            <a:ext cx="4160520" cy="1170432"/>
          </a:xfrm>
          <a:prstGeom prst="rect">
            <a:avLst/>
          </a:prstGeom>
          <a:solidFill>
            <a:srgbClr val="E8F8EF"/>
          </a:solidFill>
          <a:ln w="254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64608" y="2514600"/>
            <a:ext cx="621792" cy="6217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5146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96128" y="2377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22"/>
                </a:solidFill>
              </a:rPr>
              <a:t>Cross-Genome Comparison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96128" y="27980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Gene presence, intron status, CDS length checked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30568" y="3438144"/>
            <a:ext cx="0" cy="164592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602736"/>
            <a:ext cx="4160520" cy="1170432"/>
          </a:xfrm>
          <a:prstGeom prst="rect">
            <a:avLst/>
          </a:prstGeom>
          <a:solidFill>
            <a:srgbClr val="E8F8EF"/>
          </a:solidFill>
          <a:ln w="254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64608" y="3849624"/>
            <a:ext cx="621792" cy="6217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8496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96128" y="37124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22"/>
                </a:solidFill>
              </a:rPr>
              <a:t>Normalized .gb + Excel Report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96128" y="4133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revise_annotations/ folder + comparison_results.xlsx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Output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3858768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042416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module_3/
</a:t>
            </a:r>
            <a:r>
              <a:rPr lang="en-US" sz="1150" dirty="0">
                <a:solidFill>
                  <a:srgbClr val="F8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revise_annotations/
</a:t>
            </a:r>
            <a:r>
              <a:rPr lang="en-US" sz="1150" dirty="0">
                <a:solidFill>
                  <a:srgbClr val="D4A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species1.gb  </a:t>
            </a:r>
            <a:r>
              <a:rPr lang="en-US" sz="115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Normalized
</a:t>
            </a:r>
            <a:r>
              <a:rPr lang="en-US" sz="1150" dirty="0">
                <a:solidFill>
                  <a:srgbClr val="D4A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species2.gb
│   └── species3.gb
</a:t>
            </a:r>
            <a:r>
              <a:rPr lang="en-US" sz="115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
</a:t>
            </a:r>
            <a:r>
              <a:rPr lang="en-US" sz="115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comparison_results.xlsx
</a:t>
            </a:r>
            <a:r>
              <a:rPr lang="en-US" sz="1150" dirty="0">
                <a:solidFill>
                  <a:srgbClr val="F8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Comparison     </a:t>
            </a:r>
            <a:r>
              <a:rPr lang="en-US" sz="115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gene-by-gene
</a:t>
            </a:r>
            <a:r>
              <a:rPr lang="en-US" sz="1150" dirty="0">
                <a:solidFill>
                  <a:srgbClr val="F8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Normalization_Issues </a:t>
            </a:r>
            <a:r>
              <a:rPr lang="en-US" sz="115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unmatched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73168" y="10515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4960" y="10332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A"/>
                </a:solidFill>
              </a:rPr>
              <a:t>revise_annotations/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0" y="138074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Normalized .gb files — coordinates preserved, only gene names and products updated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911096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200253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9842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A"/>
                </a:solidFill>
              </a:rPr>
              <a:t>Comparison sheet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3317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Gene by gene: Present?, Reference intron, Target intron, Issue type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862072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73168" y="295351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4960" y="293522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A"/>
                </a:solidFill>
              </a:rPr>
              <a:t>Normalization_Issues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32826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Lists every unmatched name with original and issue — for manual curation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813048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73168" y="390448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3886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A"/>
                </a:solidFill>
              </a:rPr>
              <a:t>Safe to use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42336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Normalized files are safe — review comparison report before downstream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Interpreting the Excel Report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C3A"/>
                </a:solidFill>
              </a:rPr>
              <a:t>Sheet 1: Comparison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16736"/>
          <a:ext cx="4160520" cy="20116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rbcL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ycf3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Intron 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gene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trnX-AAA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Unmatched tRNA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91440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C3A"/>
                </a:solidFill>
              </a:rPr>
              <a:t>Issue Types — What They Mean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316736"/>
            <a:ext cx="4160520" cy="768096"/>
          </a:xfrm>
          <a:prstGeom prst="rect">
            <a:avLst/>
          </a:prstGeom>
          <a:solidFill>
            <a:srgbClr val="E8F8E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6"/>
          <p:cNvSpPr/>
          <p:nvPr/>
        </p:nvSpPr>
        <p:spPr>
          <a:xfrm>
            <a:off x="4828032" y="1408176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394960" y="138074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</a:rPr>
              <a:t>Missing gene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394960" y="17190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Gene not found in target — annotation gap or real loss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2194560"/>
            <a:ext cx="4160520" cy="768096"/>
          </a:xfrm>
          <a:prstGeom prst="rect">
            <a:avLst/>
          </a:prstGeom>
          <a:solidFill>
            <a:srgbClr val="E8F8EF"/>
          </a:solidFill>
          <a:ln w="19050">
            <a:solidFill>
              <a:srgbClr val="D354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28032" y="228600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394960" y="225856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35400"/>
                </a:solidFill>
              </a:rPr>
              <a:t>Intron loss/gain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394960" y="259689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Intron status differs — check gene structure carefully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3072384"/>
            <a:ext cx="4160520" cy="768096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28032" y="3163824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394960" y="313639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AE60"/>
                </a:solidFill>
              </a:rPr>
              <a:t>Unmatched tRNA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394960" y="34747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tRNA name could not be matched — check anticodon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3950208"/>
            <a:ext cx="4160520" cy="768096"/>
          </a:xfrm>
          <a:prstGeom prst="rect">
            <a:avLst/>
          </a:prstGeom>
          <a:solidFill>
            <a:srgbClr val="E8F8EF"/>
          </a:solidFill>
          <a:ln w="19050">
            <a:solidFill>
              <a:srgbClr val="7D3C9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28032" y="404164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394960" y="401421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D3C98"/>
                </a:solidFill>
              </a:rPr>
              <a:t>Normalization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394960" y="4352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Name was changed — review in Normalization_Issues sheet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74320" y="3419856"/>
            <a:ext cx="4160520" cy="137160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" y="345643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C3A"/>
                </a:solidFill>
              </a:rPr>
              <a:t>Sheet 2: Normalization_Issues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11480" y="3785616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Lists every gene whose name could not be automatically matched to the reference. Each row shows: Target file · Feature type · Original name · Issue description.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These require manual curation.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439</Words>
  <Application>Microsoft Office PowerPoint</Application>
  <PresentationFormat>On-screen Show (16:9)</PresentationFormat>
  <Paragraphs>89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CGAS Module 3: Plastome Gene Comparison and Normalization</dc:title>
  <dc:subject>PptxGenJS Presentation</dc:subject>
  <dc:creator>Abdullah</dc:creator>
  <cp:lastModifiedBy>Abdullah</cp:lastModifiedBy>
  <cp:revision>2</cp:revision>
  <dcterms:created xsi:type="dcterms:W3CDTF">2026-02-20T10:43:19Z</dcterms:created>
  <dcterms:modified xsi:type="dcterms:W3CDTF">2026-03-11T10:09:00Z</dcterms:modified>
</cp:coreProperties>
</file>