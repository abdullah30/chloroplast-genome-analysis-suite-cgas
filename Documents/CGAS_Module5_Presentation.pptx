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200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365760"/>
            <a:ext cx="2011680" cy="201168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</a:rPr>
              <a:t>CGAS SUITE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Chloroplast Genome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Comparative Analysis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genes · classify functional vs pseudogenes · detect IR duplications across genomes.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Gene Types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1460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Output Files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50+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Genomes Tested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2084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Analysis Steps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Abdullah  ·  CGAS v1.0.1  ·  January 2026  ·  bioRxiv doi: 10.64898/2025.12.21.695765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CGAS Module 5?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2B22"/>
                </a:solidFill>
              </a:rPr>
              <a:t>Reads all GenBank files in your folder, extracts every gene, normalizes names across annotation conventions, flags pseudogenes, detects IR duplications, and delivers a publication-ready Excel comparison table.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Gene Identification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Extracts all CDS, tRNA, and rRNA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genes from every GenBank 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in your folder automatically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Functional Classification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Distinguishes functional genes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from pseudogenes using multiple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criteria — explicit markers, missing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CDS, internal stop codons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IR Duplication Analysis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Detects IR-mediated gene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duplications · normalizes names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to reference convention · logs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all changes for transparency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233672"/>
            <a:ext cx="9144000" cy="566928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233672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61104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B55"/>
                </a:solidFill>
              </a:rPr>
              <a:t>Scientific use: comparative genomics · phylogenetic analysis · evolutionary studies · publication preparation.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Quick Start — Three Ways to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① cgas command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 --module 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② cgas-gene-compare shortcut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396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cgas-gene-compare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642616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③ Python directly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62656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98094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cgas_module5.py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11296"/>
            <a:ext cx="8595360" cy="12618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Options: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cgas_module5.py -i genbank_files/          # Specify input folder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4096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cgas_module5.py -i data/ -o Gene_Results/  # Custom output folder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3525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cgas_module5.py --help                     # Get help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Pipeline — What Happens When You Run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1170432"/>
          </a:xfrm>
          <a:prstGeom prst="rect">
            <a:avLst/>
          </a:prstGeom>
          <a:solidFill>
            <a:srgbClr val="E8F8E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79576"/>
            <a:ext cx="621792" cy="6217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95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0424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2"/>
                </a:solidFill>
              </a:rPr>
              <a:t>Scan for GenBank files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463040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Finds all .gb .gbf .gbk .genbank in the input folder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67712"/>
            <a:ext cx="4160520" cy="1170432"/>
          </a:xfrm>
          <a:prstGeom prst="rect">
            <a:avLst/>
          </a:prstGeom>
          <a:solidFill>
            <a:srgbClr val="E8F8EF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514600"/>
            <a:ext cx="621792" cy="621792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514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2377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2"/>
                </a:solidFill>
              </a:rPr>
              <a:t>Extract all gene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798064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Reads every gene feature — CDS, tRNA, rRNA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02736"/>
            <a:ext cx="4160520" cy="1170432"/>
          </a:xfrm>
          <a:prstGeom prst="rect">
            <a:avLst/>
          </a:prstGeom>
          <a:solidFill>
            <a:srgbClr val="E8F8EF"/>
          </a:solidFill>
          <a:ln w="25400">
            <a:solidFill>
              <a:srgbClr val="7D3C9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849624"/>
            <a:ext cx="621792" cy="621792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8496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37124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2"/>
                </a:solidFill>
              </a:rPr>
              <a:t>Normalize gene names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4133088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Standardizes names: pafI→ycf3, case fixes, separator fixes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932688"/>
            <a:ext cx="4160520" cy="1170432"/>
          </a:xfrm>
          <a:prstGeom prst="rect">
            <a:avLst/>
          </a:prstGeom>
          <a:solidFill>
            <a:srgbClr val="E8F8EF"/>
          </a:solidFill>
          <a:ln w="25400">
            <a:solidFill>
              <a:srgbClr val="D354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1179576"/>
            <a:ext cx="621792" cy="621792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1795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96128" y="10424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2"/>
                </a:solidFill>
              </a:rPr>
              <a:t>Classify functional/pseudo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1463040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Flags pseudogenes by multiple criteria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67712"/>
            <a:ext cx="4160520" cy="1170432"/>
          </a:xfrm>
          <a:prstGeom prst="rect">
            <a:avLst/>
          </a:prstGeom>
          <a:solidFill>
            <a:srgbClr val="E8F8E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64608" y="2514600"/>
            <a:ext cx="621792" cy="6217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5146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96128" y="2377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2"/>
                </a:solidFill>
              </a:rPr>
              <a:t>Detect IR duplications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96128" y="2798064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Identifies and characterizes IR-mediated gene duplications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02736"/>
            <a:ext cx="4160520" cy="1170432"/>
          </a:xfrm>
          <a:prstGeom prst="rect">
            <a:avLst/>
          </a:prstGeom>
          <a:solidFill>
            <a:srgbClr val="E8F8E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608" y="3849624"/>
            <a:ext cx="621792" cy="6217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8496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96128" y="37124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2"/>
                </a:solidFill>
              </a:rPr>
              <a:t>Write Excel reports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4133088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Gene_Analysis.xlsx + Gene_Normalization_Log.xlsx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Output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3858768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42416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Module5_Gene_Comparative_Analysis/
</a:t>
            </a:r>
            <a:pPr indent="0" marL="0">
              <a:buNone/>
            </a:pPr>
            <a:r>
              <a:rPr lang="en-US" sz="12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
</a:t>
            </a:r>
            <a:pPr indent="0" marL="0">
              <a:buNone/>
            </a:pPr>
            <a:r>
              <a:rPr lang="en-US" sz="12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Chloroplast_Gene_Analysis_
</a:t>
            </a:r>
            <a:pPr indent="0" marL="0">
              <a:buNone/>
            </a:pPr>
            <a:r>
              <a:rPr lang="en-US" sz="12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YYYYMMDD_HHMMSS.xlsx  </a:t>
            </a:r>
            <a:pPr indent="0" marL="0">
              <a:buNone/>
            </a:pPr>
            <a:r>
              <a:rPr lang="en-US" sz="12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 table
</a:t>
            </a:r>
            <a:pPr indent="0" marL="0">
              <a:buNone/>
            </a:pPr>
            <a:r>
              <a:rPr lang="en-US" sz="12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
</a:t>
            </a:r>
            <a:pPr indent="0" marL="0">
              <a:buNone/>
            </a:pPr>
            <a:r>
              <a:rPr lang="en-US" sz="12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Gene_Normalization_Log.xlsx  </a:t>
            </a:r>
            <a:pPr indent="0" marL="0">
              <a:buNone/>
            </a:pPr>
            <a:r>
              <a:rPr lang="en-US" sz="12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Audit trail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0515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10332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Main Analysis Excel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13807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One row per gene × one column per species — presence, functional status, IR duplication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911096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00253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9842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Normalization Log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3317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Every name change recorded: original name, new name, reason — full audit trail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862072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95351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293522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Gene types covered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2826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CDS (protein-coding) · tRNA · rRNA — all extracted and classified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813048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390448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3886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Publication ready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42336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Suitable for direct use in manuscripts — gene content comparison tables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Step-by-Step: Practical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Place GenBank files in a folder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/home/user/gene_comparison/chloroplast_genomes/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*.gb  # verify files are here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the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cgas_module5.py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cgas --module 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cgas-gene-compare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4865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the main Excel report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Module5_Gene_Comparative_Analysis/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Chloroplast_Gene_Analysis_*.xlsx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4865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 normalization log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Module5_Gene_Comparative_Analysis/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Gene_Normalization_Log.xlsx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Review all name changes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Parameters &amp; Key Notes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32688"/>
          <a:ext cx="8595360" cy="128016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560320"/>
                <a:gridCol w="201168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Flag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Default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Input directory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-i / --input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. (current)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Folder with GenBank files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Output directory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-o / --output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Module5_Gene_Comparative_Analysis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</a:rPr>
                        <a:t>Created automatically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2331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C3A"/>
                </a:solidFill>
              </a:rPr>
              <a:t>Important Notes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2743200"/>
            <a:ext cx="8595360" cy="548640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2743200"/>
            <a:ext cx="54864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8346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96112" y="27980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rps12 is trans-spliced: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6112" y="303580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appears in multiple locations — not a true IR duplication; evaluate annotation carefully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3364992"/>
            <a:ext cx="8595360" cy="548640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3364992"/>
            <a:ext cx="54864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345643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96112" y="34198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IR region annotations needed: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96112" y="365760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use Module 2 output (which includes LSC/SSC/IRa/IRb labels) for best duplication detection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3986784"/>
            <a:ext cx="8595360" cy="548640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3986784"/>
            <a:ext cx="54864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0782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96112" y="40416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Gene name normalization: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96112" y="427939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pafI→ycf3 and many other synonyms handled; check log for all changes made to your files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4608576"/>
            <a:ext cx="8595360" cy="548640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" y="4608576"/>
            <a:ext cx="54864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470001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96112" y="46634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Pseudogene detection criteria: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96112" y="4901184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explicit /pseudo marker · missing CDS · internal stop codons · frame shifts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Common Issues &amp; Quick Fixes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926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Missing Python packages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pip install biopython pandas openpyxl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09344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4592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No GenBank files found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91109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Check extensions: .gb .gbf .gbk .genbank — use -i /full/path/ to specify directory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86000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2257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No gene features found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58775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Open file in text editor — look for 'gene' in FEATURES section with /gene qualifiers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62656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9923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Unusual tRNA name warning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26440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Check normalization log — some manual curation may be needed for non-standard names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9312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7588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Many pseudogenes detected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94106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May indicate poor annotation quality or ancient pseudogenization — review log carefully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431596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31596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5254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rps12 appears as duplicated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61772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rps12 is trans-spliced — this is expected; its annotation requires special attention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Module 5 — 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01168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-822960"/>
            <a:ext cx="3200400" cy="320040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-182880"/>
            <a:ext cx="1920240" cy="192024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914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🧬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47472" y="32004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Module 5 — Key Takeaways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" y="8046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E"/>
                </a:solidFill>
              </a:rPr>
              <a:t>Chloroplast Genome Gene Comparative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4884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311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No arguments needed: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23113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run python cgas_module5.py in the folder with your .gb files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42616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724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3 gene types: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31720" y="2724912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CDS, tRNA, and rRNA all extracted and classified automatically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136392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36392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218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Smart normalization: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3218688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pafI→ycf3 and dozens of other synonyms handled; full audit log created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630168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30168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7124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Pseudogene detection: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3712464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multiple criteria — explicit markers, missing CDS, internal stops, frameshifts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123944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23944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206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rps12 caution: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31720" y="420624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trans-spliced gene — annotated in multiple locations; not a true IR duplication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61772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61772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7000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Cite CGAS: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31720" y="470001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Abdullah A., Yan R., &amp; Tian X. (2025). bioRxiv. doi: 10.64898/2025.12.21.695765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CGAS Module 5: Chloroplast Genome
Gene Comparative Analysis</dc:title>
  <dc:subject>PptxGenJS Presentation</dc:subject>
  <dc:creator>Abdullah</dc:creator>
  <cp:lastModifiedBy>Abdullah</cp:lastModifiedBy>
  <cp:revision>1</cp:revision>
  <dcterms:created xsi:type="dcterms:W3CDTF">2026-02-20T18:37:29Z</dcterms:created>
  <dcterms:modified xsi:type="dcterms:W3CDTF">2026-02-20T18:37:29Z</dcterms:modified>
</cp:coreProperties>
</file>