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rgbClr val="1A5C3A"/>
          </a:solidFill>
          <a:ln w="12700">
            <a:solidFill>
              <a:srgbClr val="1A5C3A"/>
            </a:solidFill>
            <a:prstDash val="solid"/>
          </a:ln>
        </p:spPr>
      </p:sp>
      <p:sp>
        <p:nvSpPr>
          <p:cNvPr id="3" name="Shape 1"/>
          <p:cNvSpPr/>
          <p:nvPr/>
        </p:nvSpPr>
        <p:spPr>
          <a:xfrm>
            <a:off x="0" y="0"/>
            <a:ext cx="201168" cy="3200400"/>
          </a:xfrm>
          <a:prstGeom prst="rect">
            <a:avLst/>
          </a:prstGeom>
          <a:solidFill>
            <a:srgbClr val="27AE60"/>
          </a:solidFill>
          <a:ln w="12700">
            <a:solidFill>
              <a:srgbClr val="27AE60"/>
            </a:solidFill>
            <a:prstDash val="solid"/>
          </a:ln>
        </p:spPr>
      </p:sp>
      <p:sp>
        <p:nvSpPr>
          <p:cNvPr id="4" name="Shape 2"/>
          <p:cNvSpPr/>
          <p:nvPr/>
        </p:nvSpPr>
        <p:spPr>
          <a:xfrm>
            <a:off x="7132320" y="-1097280"/>
            <a:ext cx="3474720" cy="3474720"/>
          </a:xfrm>
          <a:prstGeom prst="ellipse">
            <a:avLst/>
          </a:prstGeom>
          <a:solidFill>
            <a:srgbClr val="1E6B42"/>
          </a:solidFill>
          <a:ln w="12700">
            <a:solidFill>
              <a:srgbClr val="1E6B42"/>
            </a:solidFill>
            <a:prstDash val="solid"/>
          </a:ln>
        </p:spPr>
      </p:sp>
      <p:sp>
        <p:nvSpPr>
          <p:cNvPr id="5" name="Shape 3"/>
          <p:cNvSpPr/>
          <p:nvPr/>
        </p:nvSpPr>
        <p:spPr>
          <a:xfrm>
            <a:off x="7863840" y="-365760"/>
            <a:ext cx="2011680" cy="2011680"/>
          </a:xfrm>
          <a:prstGeom prst="ellipse">
            <a:avLst/>
          </a:prstGeom>
          <a:solidFill>
            <a:srgbClr val="1A5C3A"/>
          </a:solidFill>
          <a:ln w="25400">
            <a:solidFill>
              <a:srgbClr val="27AE60"/>
            </a:solidFill>
            <a:prstDash val="solid"/>
          </a:ln>
        </p:spPr>
      </p:sp>
      <p:sp>
        <p:nvSpPr>
          <p:cNvPr id="6" name="Shape 4"/>
          <p:cNvSpPr/>
          <p:nvPr/>
        </p:nvSpPr>
        <p:spPr>
          <a:xfrm>
            <a:off x="411480" y="274320"/>
            <a:ext cx="1737360" cy="347472"/>
          </a:xfrm>
          <a:prstGeom prst="rect">
            <a:avLst/>
          </a:prstGeom>
          <a:solidFill>
            <a:srgbClr val="27AE60"/>
          </a:solidFill>
          <a:ln w="12700">
            <a:solidFill>
              <a:srgbClr val="27AE60"/>
            </a:solidFill>
            <a:prstDash val="solid"/>
          </a:ln>
        </p:spPr>
      </p:sp>
      <p:sp>
        <p:nvSpPr>
          <p:cNvPr id="7" name="Text 5"/>
          <p:cNvSpPr/>
          <p:nvPr/>
        </p:nvSpPr>
        <p:spPr>
          <a:xfrm>
            <a:off x="411480" y="274320"/>
            <a:ext cx="1737360" cy="347472"/>
          </a:xfrm>
          <a:prstGeom prst="rect">
            <a:avLst/>
          </a:prstGeom>
          <a:noFill/>
          <a:ln/>
        </p:spPr>
        <p:txBody>
          <a:bodyPr wrap="square" lIns="0" tIns="0" rIns="0" bIns="0" rtlCol="0" anchor="ctr"/>
          <a:lstStyle/>
          <a:p>
            <a:pPr algn="ctr" indent="0" marL="0">
              <a:buNone/>
            </a:pPr>
            <a:r>
              <a:rPr lang="en-US" sz="1000" b="1" dirty="0">
                <a:solidFill>
                  <a:srgbClr val="1A5C3A"/>
                </a:solidFill>
              </a:rPr>
              <a:t>CGAS SUITE</a:t>
            </a:r>
            <a:endParaRPr lang="en-US" sz="1000" dirty="0"/>
          </a:p>
        </p:txBody>
      </p:sp>
      <p:sp>
        <p:nvSpPr>
          <p:cNvPr id="8" name="Text 6"/>
          <p:cNvSpPr/>
          <p:nvPr/>
        </p:nvSpPr>
        <p:spPr>
          <a:xfrm>
            <a:off x="411480" y="777240"/>
            <a:ext cx="6400800" cy="411480"/>
          </a:xfrm>
          <a:prstGeom prst="rect">
            <a:avLst/>
          </a:prstGeom>
          <a:noFill/>
          <a:ln/>
        </p:spPr>
        <p:txBody>
          <a:bodyPr wrap="square" rtlCol="0" anchor="ctr"/>
          <a:lstStyle/>
          <a:p>
            <a:pPr indent="0" marL="0">
              <a:buNone/>
            </a:pPr>
            <a:r>
              <a:rPr lang="en-US" sz="2400" dirty="0">
                <a:solidFill>
                  <a:srgbClr val="FF0000"/>
                </a:solidFill>
                <a:latin typeface="Calibri" pitchFamily="34" charset="0"/>
                <a:ea typeface="Calibri" pitchFamily="34" charset="-122"/>
                <a:cs typeface="Calibri" pitchFamily="34" charset="-120"/>
              </a:rPr>
              <a:t>Module 9</a:t>
            </a:r>
            <a:endParaRPr lang="en-US" sz="2400" dirty="0"/>
          </a:p>
        </p:txBody>
      </p:sp>
      <p:sp>
        <p:nvSpPr>
          <p:cNvPr id="9" name="Text 7"/>
          <p:cNvSpPr/>
          <p:nvPr/>
        </p:nvSpPr>
        <p:spPr>
          <a:xfrm>
            <a:off x="411480" y="1170432"/>
            <a:ext cx="6583680" cy="1737360"/>
          </a:xfrm>
          <a:prstGeom prst="rect">
            <a:avLst/>
          </a:prstGeom>
          <a:noFill/>
          <a:ln/>
        </p:spPr>
        <p:txBody>
          <a:bodyPr wrap="square" rtlCol="0" anchor="ctr"/>
          <a:lstStyle/>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Comprehensive Amino Acid</a:t>
            </a:r>
            <a:endParaRPr lang="en-US" sz="3600" dirty="0"/>
          </a:p>
          <a:p>
            <a:pPr indent="0" marL="0">
              <a:lnSpc>
                <a:spcPct val="110000"/>
              </a:lnSpc>
              <a:buNone/>
            </a:pPr>
            <a:r>
              <a:rPr lang="en-US" sz="3600" b="1" dirty="0">
                <a:solidFill>
                  <a:srgbClr val="FFFFFF"/>
                </a:solidFill>
                <a:latin typeface="Calibri" pitchFamily="34" charset="0"/>
                <a:ea typeface="Calibri" pitchFamily="34" charset="-122"/>
                <a:cs typeface="Calibri" pitchFamily="34" charset="-120"/>
              </a:rPr>
              <a:t>Analysis with R Visualization</a:t>
            </a:r>
            <a:endParaRPr lang="en-US" sz="3600" dirty="0"/>
          </a:p>
        </p:txBody>
      </p:sp>
      <p:sp>
        <p:nvSpPr>
          <p:cNvPr id="10" name="Text 8"/>
          <p:cNvSpPr/>
          <p:nvPr/>
        </p:nvSpPr>
        <p:spPr>
          <a:xfrm>
            <a:off x="411480" y="3383280"/>
            <a:ext cx="6858000" cy="457200"/>
          </a:xfrm>
          <a:prstGeom prst="rect">
            <a:avLst/>
          </a:prstGeom>
          <a:noFill/>
          <a:ln/>
        </p:spPr>
        <p:txBody>
          <a:bodyPr wrap="square" rtlCol="0" anchor="ctr"/>
          <a:lstStyle/>
          <a:p>
            <a:pPr indent="0" marL="0">
              <a:buNone/>
            </a:pPr>
            <a:r>
              <a:rPr lang="en-US" sz="1400" i="1" dirty="0">
                <a:solidFill>
                  <a:srgbClr val="4A6B55"/>
                </a:solidFill>
                <a:latin typeface="Calibri" pitchFamily="34" charset="0"/>
                <a:ea typeface="Calibri" pitchFamily="34" charset="-122"/>
                <a:cs typeface="Calibri" pitchFamily="34" charset="-120"/>
              </a:rPr>
              <a:t>Translate all CDS · calculate 20 amino acid percentages · publication heatmaps via R.</a:t>
            </a:r>
            <a:endParaRPr lang="en-US" sz="1400" dirty="0"/>
          </a:p>
        </p:txBody>
      </p:sp>
      <p:sp>
        <p:nvSpPr>
          <p:cNvPr id="11" name="Shape 9"/>
          <p:cNvSpPr/>
          <p:nvPr/>
        </p:nvSpPr>
        <p:spPr>
          <a:xfrm>
            <a:off x="411480" y="3931920"/>
            <a:ext cx="1920240" cy="822960"/>
          </a:xfrm>
          <a:prstGeom prst="rect">
            <a:avLst/>
          </a:prstGeom>
          <a:solidFill>
            <a:srgbClr val="E8F8EF"/>
          </a:solidFill>
          <a:ln w="12700">
            <a:solidFill>
              <a:srgbClr val="27AE60"/>
            </a:solidFill>
            <a:prstDash val="solid"/>
          </a:ln>
        </p:spPr>
      </p:sp>
      <p:sp>
        <p:nvSpPr>
          <p:cNvPr id="12" name="Text 10"/>
          <p:cNvSpPr/>
          <p:nvPr/>
        </p:nvSpPr>
        <p:spPr>
          <a:xfrm>
            <a:off x="411480" y="3959352"/>
            <a:ext cx="1920240" cy="384048"/>
          </a:xfrm>
          <a:prstGeom prst="rect">
            <a:avLst/>
          </a:prstGeom>
          <a:noFill/>
          <a:ln/>
        </p:spPr>
        <p:txBody>
          <a:bodyPr wrap="square" rtlCol="0" anchor="ctr"/>
          <a:lstStyle/>
          <a:p>
            <a:pPr algn="ctr" indent="0" marL="0">
              <a:buNone/>
            </a:pPr>
            <a:r>
              <a:rPr lang="en-US" sz="2200" b="1" dirty="0">
                <a:solidFill>
                  <a:srgbClr val="1A5C3A"/>
                </a:solidFill>
              </a:rPr>
              <a:t>20</a:t>
            </a:r>
            <a:endParaRPr lang="en-US" sz="2200" dirty="0"/>
          </a:p>
        </p:txBody>
      </p:sp>
      <p:sp>
        <p:nvSpPr>
          <p:cNvPr id="13" name="Text 11"/>
          <p:cNvSpPr/>
          <p:nvPr/>
        </p:nvSpPr>
        <p:spPr>
          <a:xfrm>
            <a:off x="411480" y="4352544"/>
            <a:ext cx="1920240" cy="329184"/>
          </a:xfrm>
          <a:prstGeom prst="rect">
            <a:avLst/>
          </a:prstGeom>
          <a:noFill/>
          <a:ln/>
        </p:spPr>
        <p:txBody>
          <a:bodyPr wrap="square" rtlCol="0" anchor="ctr"/>
          <a:lstStyle/>
          <a:p>
            <a:pPr algn="ctr" indent="0" marL="0">
              <a:buNone/>
            </a:pPr>
            <a:r>
              <a:rPr lang="en-US" sz="1000" dirty="0">
                <a:solidFill>
                  <a:srgbClr val="4A6B55"/>
                </a:solidFill>
              </a:rPr>
              <a:t>Amino Acids</a:t>
            </a:r>
            <a:endParaRPr lang="en-US" sz="1000" dirty="0"/>
          </a:p>
        </p:txBody>
      </p:sp>
      <p:sp>
        <p:nvSpPr>
          <p:cNvPr id="14" name="Shape 12"/>
          <p:cNvSpPr/>
          <p:nvPr/>
        </p:nvSpPr>
        <p:spPr>
          <a:xfrm>
            <a:off x="2514600" y="3931920"/>
            <a:ext cx="1920240" cy="822960"/>
          </a:xfrm>
          <a:prstGeom prst="rect">
            <a:avLst/>
          </a:prstGeom>
          <a:solidFill>
            <a:srgbClr val="E8F8EF"/>
          </a:solidFill>
          <a:ln w="12700">
            <a:solidFill>
              <a:srgbClr val="27AE60"/>
            </a:solidFill>
            <a:prstDash val="solid"/>
          </a:ln>
        </p:spPr>
      </p:sp>
      <p:sp>
        <p:nvSpPr>
          <p:cNvPr id="15" name="Text 13"/>
          <p:cNvSpPr/>
          <p:nvPr/>
        </p:nvSpPr>
        <p:spPr>
          <a:xfrm>
            <a:off x="2514600" y="3959352"/>
            <a:ext cx="1920240" cy="384048"/>
          </a:xfrm>
          <a:prstGeom prst="rect">
            <a:avLst/>
          </a:prstGeom>
          <a:noFill/>
          <a:ln/>
        </p:spPr>
        <p:txBody>
          <a:bodyPr wrap="square" rtlCol="0" anchor="ctr"/>
          <a:lstStyle/>
          <a:p>
            <a:pPr algn="ctr" indent="0" marL="0">
              <a:buNone/>
            </a:pPr>
            <a:r>
              <a:rPr lang="en-US" sz="2200" b="1" dirty="0">
                <a:solidFill>
                  <a:srgbClr val="1A5C3A"/>
                </a:solidFill>
              </a:rPr>
              <a:t>4</a:t>
            </a:r>
            <a:endParaRPr lang="en-US" sz="2200" dirty="0"/>
          </a:p>
        </p:txBody>
      </p:sp>
      <p:sp>
        <p:nvSpPr>
          <p:cNvPr id="16" name="Text 14"/>
          <p:cNvSpPr/>
          <p:nvPr/>
        </p:nvSpPr>
        <p:spPr>
          <a:xfrm>
            <a:off x="2514600" y="4352544"/>
            <a:ext cx="1920240" cy="329184"/>
          </a:xfrm>
          <a:prstGeom prst="rect">
            <a:avLst/>
          </a:prstGeom>
          <a:noFill/>
          <a:ln/>
        </p:spPr>
        <p:txBody>
          <a:bodyPr wrap="square" rtlCol="0" anchor="ctr"/>
          <a:lstStyle/>
          <a:p>
            <a:pPr algn="ctr" indent="0" marL="0">
              <a:buNone/>
            </a:pPr>
            <a:r>
              <a:rPr lang="en-US" sz="1000" dirty="0">
                <a:solidFill>
                  <a:srgbClr val="4A6B55"/>
                </a:solidFill>
              </a:rPr>
              <a:t>Output Figures</a:t>
            </a:r>
            <a:endParaRPr lang="en-US" sz="1000" dirty="0"/>
          </a:p>
        </p:txBody>
      </p:sp>
      <p:sp>
        <p:nvSpPr>
          <p:cNvPr id="17" name="Shape 15"/>
          <p:cNvSpPr/>
          <p:nvPr/>
        </p:nvSpPr>
        <p:spPr>
          <a:xfrm>
            <a:off x="4617720" y="3931920"/>
            <a:ext cx="1920240" cy="822960"/>
          </a:xfrm>
          <a:prstGeom prst="rect">
            <a:avLst/>
          </a:prstGeom>
          <a:solidFill>
            <a:srgbClr val="E8F8EF"/>
          </a:solidFill>
          <a:ln w="12700">
            <a:solidFill>
              <a:srgbClr val="27AE60"/>
            </a:solidFill>
            <a:prstDash val="solid"/>
          </a:ln>
        </p:spPr>
      </p:sp>
      <p:sp>
        <p:nvSpPr>
          <p:cNvPr id="18" name="Text 16"/>
          <p:cNvSpPr/>
          <p:nvPr/>
        </p:nvSpPr>
        <p:spPr>
          <a:xfrm>
            <a:off x="4617720" y="3959352"/>
            <a:ext cx="1920240" cy="384048"/>
          </a:xfrm>
          <a:prstGeom prst="rect">
            <a:avLst/>
          </a:prstGeom>
          <a:noFill/>
          <a:ln/>
        </p:spPr>
        <p:txBody>
          <a:bodyPr wrap="square" rtlCol="0" anchor="ctr"/>
          <a:lstStyle/>
          <a:p>
            <a:pPr algn="ctr" indent="0" marL="0">
              <a:buNone/>
            </a:pPr>
            <a:r>
              <a:rPr lang="en-US" sz="2200" b="1" dirty="0">
                <a:solidFill>
                  <a:srgbClr val="1A5C3A"/>
                </a:solidFill>
              </a:rPr>
              <a:t>7</a:t>
            </a:r>
            <a:endParaRPr lang="en-US" sz="2200" dirty="0"/>
          </a:p>
        </p:txBody>
      </p:sp>
      <p:sp>
        <p:nvSpPr>
          <p:cNvPr id="19" name="Text 17"/>
          <p:cNvSpPr/>
          <p:nvPr/>
        </p:nvSpPr>
        <p:spPr>
          <a:xfrm>
            <a:off x="4617720" y="4352544"/>
            <a:ext cx="1920240" cy="329184"/>
          </a:xfrm>
          <a:prstGeom prst="rect">
            <a:avLst/>
          </a:prstGeom>
          <a:noFill/>
          <a:ln/>
        </p:spPr>
        <p:txBody>
          <a:bodyPr wrap="square" rtlCol="0" anchor="ctr"/>
          <a:lstStyle/>
          <a:p>
            <a:pPr algn="ctr" indent="0" marL="0">
              <a:buNone/>
            </a:pPr>
            <a:r>
              <a:rPr lang="en-US" sz="1000" dirty="0">
                <a:solidFill>
                  <a:srgbClr val="4A6B55"/>
                </a:solidFill>
              </a:rPr>
              <a:t>Analysis Steps</a:t>
            </a:r>
            <a:endParaRPr lang="en-US" sz="1000" dirty="0"/>
          </a:p>
        </p:txBody>
      </p:sp>
      <p:sp>
        <p:nvSpPr>
          <p:cNvPr id="20" name="Shape 18"/>
          <p:cNvSpPr/>
          <p:nvPr/>
        </p:nvSpPr>
        <p:spPr>
          <a:xfrm>
            <a:off x="6720840" y="3931920"/>
            <a:ext cx="1920240" cy="822960"/>
          </a:xfrm>
          <a:prstGeom prst="rect">
            <a:avLst/>
          </a:prstGeom>
          <a:solidFill>
            <a:srgbClr val="E8F8EF"/>
          </a:solidFill>
          <a:ln w="12700">
            <a:solidFill>
              <a:srgbClr val="27AE60"/>
            </a:solidFill>
            <a:prstDash val="solid"/>
          </a:ln>
        </p:spPr>
      </p:sp>
      <p:sp>
        <p:nvSpPr>
          <p:cNvPr id="21" name="Text 19"/>
          <p:cNvSpPr/>
          <p:nvPr/>
        </p:nvSpPr>
        <p:spPr>
          <a:xfrm>
            <a:off x="6720840" y="3959352"/>
            <a:ext cx="1920240" cy="384048"/>
          </a:xfrm>
          <a:prstGeom prst="rect">
            <a:avLst/>
          </a:prstGeom>
          <a:noFill/>
          <a:ln/>
        </p:spPr>
        <p:txBody>
          <a:bodyPr wrap="square" rtlCol="0" anchor="ctr"/>
          <a:lstStyle/>
          <a:p>
            <a:pPr algn="ctr" indent="0" marL="0">
              <a:buNone/>
            </a:pPr>
            <a:r>
              <a:rPr lang="en-US" sz="2200" b="1" dirty="0">
                <a:solidFill>
                  <a:srgbClr val="1A5C3A"/>
                </a:solidFill>
              </a:rPr>
              <a:t>600</a:t>
            </a:r>
            <a:endParaRPr lang="en-US" sz="2200" dirty="0"/>
          </a:p>
        </p:txBody>
      </p:sp>
      <p:sp>
        <p:nvSpPr>
          <p:cNvPr id="22" name="Text 20"/>
          <p:cNvSpPr/>
          <p:nvPr/>
        </p:nvSpPr>
        <p:spPr>
          <a:xfrm>
            <a:off x="6720840" y="4352544"/>
            <a:ext cx="1920240" cy="329184"/>
          </a:xfrm>
          <a:prstGeom prst="rect">
            <a:avLst/>
          </a:prstGeom>
          <a:noFill/>
          <a:ln/>
        </p:spPr>
        <p:txBody>
          <a:bodyPr wrap="square" rtlCol="0" anchor="ctr"/>
          <a:lstStyle/>
          <a:p>
            <a:pPr algn="ctr" indent="0" marL="0">
              <a:buNone/>
            </a:pPr>
            <a:r>
              <a:rPr lang="en-US" sz="1000" dirty="0">
                <a:solidFill>
                  <a:srgbClr val="4A6B55"/>
                </a:solidFill>
              </a:rPr>
              <a:t>DPI Figures</a:t>
            </a:r>
            <a:endParaRPr lang="en-US" sz="1000" dirty="0"/>
          </a:p>
        </p:txBody>
      </p:sp>
      <p:sp>
        <p:nvSpPr>
          <p:cNvPr id="23" name="Shape 21"/>
          <p:cNvSpPr/>
          <p:nvPr/>
        </p:nvSpPr>
        <p:spPr>
          <a:xfrm>
            <a:off x="0" y="4873752"/>
            <a:ext cx="9144000" cy="274320"/>
          </a:xfrm>
          <a:prstGeom prst="rect">
            <a:avLst/>
          </a:prstGeom>
          <a:solidFill>
            <a:srgbClr val="27AE60"/>
          </a:solidFill>
          <a:ln w="12700">
            <a:solidFill>
              <a:srgbClr val="27AE60"/>
            </a:solidFill>
            <a:prstDash val="solid"/>
          </a:ln>
        </p:spPr>
      </p:sp>
      <p:sp>
        <p:nvSpPr>
          <p:cNvPr id="24" name="Text 22"/>
          <p:cNvSpPr/>
          <p:nvPr/>
        </p:nvSpPr>
        <p:spPr>
          <a:xfrm>
            <a:off x="274320" y="4873752"/>
            <a:ext cx="8595360" cy="256032"/>
          </a:xfrm>
          <a:prstGeom prst="rect">
            <a:avLst/>
          </a:prstGeom>
          <a:noFill/>
          <a:ln/>
        </p:spPr>
        <p:txBody>
          <a:bodyPr wrap="square" rtlCol="0" anchor="ctr"/>
          <a:lstStyle/>
          <a:p>
            <a:pPr indent="0" marL="0">
              <a:buNone/>
            </a:pPr>
            <a:r>
              <a:rPr lang="en-US" sz="900" dirty="0">
                <a:solidFill>
                  <a:srgbClr val="FFFFFF"/>
                </a:solidFill>
              </a:rPr>
              <a:t>Abdullah  ·  CGAS v1.0.1  ·  January 2026  ·  bioRxiv doi: 10.64898/2025.12.21.695765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What is CGAS Module 9?</a:t>
            </a:r>
            <a:endParaRPr lang="en-US" sz="2400" dirty="0"/>
          </a:p>
        </p:txBody>
      </p:sp>
      <p:sp>
        <p:nvSpPr>
          <p:cNvPr id="5" name="Text 3"/>
          <p:cNvSpPr/>
          <p:nvPr/>
        </p:nvSpPr>
        <p:spPr>
          <a:xfrm>
            <a:off x="347472" y="914400"/>
            <a:ext cx="8412480" cy="658368"/>
          </a:xfrm>
          <a:prstGeom prst="rect">
            <a:avLst/>
          </a:prstGeom>
          <a:noFill/>
          <a:ln/>
        </p:spPr>
        <p:txBody>
          <a:bodyPr wrap="square" rtlCol="0" anchor="ctr"/>
          <a:lstStyle/>
          <a:p>
            <a:pPr indent="0" marL="0">
              <a:buNone/>
            </a:pPr>
            <a:r>
              <a:rPr lang="en-US" sz="1300" i="1" dirty="0">
                <a:solidFill>
                  <a:srgbClr val="1C2B22"/>
                </a:solidFill>
              </a:rPr>
              <a:t>Extracts all CDS from GenBank files, translates DNA to protein sequences using the standard genetic code, calculates percentage composition of all 20 amino acids per genome, merges results, and generates publication-quality heatmaps and bar plots via R.</a:t>
            </a:r>
            <a:endParaRPr lang="en-US" sz="1300" dirty="0"/>
          </a:p>
        </p:txBody>
      </p:sp>
      <p:sp>
        <p:nvSpPr>
          <p:cNvPr id="6" name="Shape 4"/>
          <p:cNvSpPr/>
          <p:nvPr/>
        </p:nvSpPr>
        <p:spPr>
          <a:xfrm>
            <a:off x="274320" y="1664208"/>
            <a:ext cx="2743200" cy="2450592"/>
          </a:xfrm>
          <a:prstGeom prst="rect">
            <a:avLst/>
          </a:prstGeom>
          <a:solidFill>
            <a:srgbClr val="E8F8EF"/>
          </a:solidFill>
          <a:ln w="19050">
            <a:solidFill>
              <a:srgbClr val="27AE60"/>
            </a:solidFill>
            <a:prstDash val="solid"/>
          </a:ln>
        </p:spPr>
      </p:sp>
      <p:sp>
        <p:nvSpPr>
          <p:cNvPr id="7" name="Shape 5"/>
          <p:cNvSpPr/>
          <p:nvPr/>
        </p:nvSpPr>
        <p:spPr>
          <a:xfrm>
            <a:off x="274320" y="1664208"/>
            <a:ext cx="2743200" cy="457200"/>
          </a:xfrm>
          <a:prstGeom prst="rect">
            <a:avLst/>
          </a:prstGeom>
          <a:solidFill>
            <a:srgbClr val="1A5C3A"/>
          </a:solidFill>
          <a:ln w="12700">
            <a:solidFill>
              <a:srgbClr val="1A5C3A"/>
            </a:solidFill>
            <a:prstDash val="solid"/>
          </a:ln>
        </p:spPr>
      </p:sp>
      <p:sp>
        <p:nvSpPr>
          <p:cNvPr id="8" name="Text 6"/>
          <p:cNvSpPr/>
          <p:nvPr/>
        </p:nvSpPr>
        <p:spPr>
          <a:xfrm>
            <a:off x="384048" y="1664208"/>
            <a:ext cx="2523744" cy="457200"/>
          </a:xfrm>
          <a:prstGeom prst="rect">
            <a:avLst/>
          </a:prstGeom>
          <a:noFill/>
          <a:ln/>
        </p:spPr>
        <p:txBody>
          <a:bodyPr wrap="square" rtlCol="0" anchor="ctr"/>
          <a:lstStyle/>
          <a:p>
            <a:pPr indent="0" marL="0">
              <a:buNone/>
            </a:pPr>
            <a:r>
              <a:rPr lang="en-US" sz="1250" b="1" dirty="0">
                <a:solidFill>
                  <a:srgbClr val="FFFFFF"/>
                </a:solidFill>
              </a:rPr>
              <a:t>CDS Extraction &amp; Translation</a:t>
            </a:r>
            <a:endParaRPr lang="en-US" sz="1250" dirty="0"/>
          </a:p>
        </p:txBody>
      </p:sp>
      <p:sp>
        <p:nvSpPr>
          <p:cNvPr id="9" name="Text 7"/>
          <p:cNvSpPr/>
          <p:nvPr/>
        </p:nvSpPr>
        <p:spPr>
          <a:xfrm>
            <a:off x="384048" y="2176272"/>
            <a:ext cx="2523744" cy="1828800"/>
          </a:xfrm>
          <a:prstGeom prst="rect">
            <a:avLst/>
          </a:prstGeom>
          <a:noFill/>
          <a:ln/>
        </p:spPr>
        <p:txBody>
          <a:bodyPr wrap="square" rtlCol="0" anchor="ctr"/>
          <a:lstStyle/>
          <a:p>
            <a:pPr indent="0" marL="0">
              <a:buNone/>
            </a:pPr>
            <a:r>
              <a:rPr lang="en-US" sz="1200" dirty="0">
                <a:solidFill>
                  <a:srgbClr val="1C2B22"/>
                </a:solidFill>
              </a:rPr>
              <a:t>Finds all CDS features</a:t>
            </a:r>
            <a:endParaRPr lang="en-US" sz="1200" dirty="0"/>
          </a:p>
          <a:p>
            <a:pPr indent="0" marL="0">
              <a:buNone/>
            </a:pPr>
            <a:r>
              <a:rPr lang="en-US" sz="1200" dirty="0">
                <a:solidFill>
                  <a:srgbClr val="1C2B22"/>
                </a:solidFill>
              </a:rPr>
              <a:t>Translates with standard code</a:t>
            </a:r>
            <a:endParaRPr lang="en-US" sz="1200" dirty="0"/>
          </a:p>
          <a:p>
            <a:pPr indent="0" marL="0">
              <a:buNone/>
            </a:pPr>
            <a:r>
              <a:rPr lang="en-US" sz="1200" dirty="0">
                <a:solidFill>
                  <a:srgbClr val="1C2B22"/>
                </a:solidFill>
              </a:rPr>
              <a:t>Handles pseudo-genes</a:t>
            </a:r>
            <a:endParaRPr lang="en-US" sz="1200" dirty="0"/>
          </a:p>
          <a:p>
            <a:pPr indent="0" marL="0">
              <a:buNone/>
            </a:pPr>
            <a:r>
              <a:rPr lang="en-US" sz="1200" dirty="0">
                <a:solidFill>
                  <a:srgbClr val="1C2B22"/>
                </a:solidFill>
              </a:rPr>
              <a:t>Batch processes all genomes</a:t>
            </a:r>
            <a:endParaRPr lang="en-US" sz="1200" dirty="0"/>
          </a:p>
        </p:txBody>
      </p:sp>
      <p:sp>
        <p:nvSpPr>
          <p:cNvPr id="10" name="Shape 8"/>
          <p:cNvSpPr/>
          <p:nvPr/>
        </p:nvSpPr>
        <p:spPr>
          <a:xfrm>
            <a:off x="3246120" y="1664208"/>
            <a:ext cx="2743200" cy="2450592"/>
          </a:xfrm>
          <a:prstGeom prst="rect">
            <a:avLst/>
          </a:prstGeom>
          <a:solidFill>
            <a:srgbClr val="E8F8EF"/>
          </a:solidFill>
          <a:ln w="19050">
            <a:solidFill>
              <a:srgbClr val="27AE60"/>
            </a:solidFill>
            <a:prstDash val="solid"/>
          </a:ln>
        </p:spPr>
      </p:sp>
      <p:sp>
        <p:nvSpPr>
          <p:cNvPr id="11" name="Shape 9"/>
          <p:cNvSpPr/>
          <p:nvPr/>
        </p:nvSpPr>
        <p:spPr>
          <a:xfrm>
            <a:off x="3246120" y="1664208"/>
            <a:ext cx="2743200" cy="457200"/>
          </a:xfrm>
          <a:prstGeom prst="rect">
            <a:avLst/>
          </a:prstGeom>
          <a:solidFill>
            <a:srgbClr val="1A5C3A"/>
          </a:solidFill>
          <a:ln w="12700">
            <a:solidFill>
              <a:srgbClr val="1A5C3A"/>
            </a:solidFill>
            <a:prstDash val="solid"/>
          </a:ln>
        </p:spPr>
      </p:sp>
      <p:sp>
        <p:nvSpPr>
          <p:cNvPr id="12" name="Text 10"/>
          <p:cNvSpPr/>
          <p:nvPr/>
        </p:nvSpPr>
        <p:spPr>
          <a:xfrm>
            <a:off x="3355848" y="1664208"/>
            <a:ext cx="2523744" cy="457200"/>
          </a:xfrm>
          <a:prstGeom prst="rect">
            <a:avLst/>
          </a:prstGeom>
          <a:noFill/>
          <a:ln/>
        </p:spPr>
        <p:txBody>
          <a:bodyPr wrap="square" rtlCol="0" anchor="ctr"/>
          <a:lstStyle/>
          <a:p>
            <a:pPr indent="0" marL="0">
              <a:buNone/>
            </a:pPr>
            <a:r>
              <a:rPr lang="en-US" sz="1250" b="1" dirty="0">
                <a:solidFill>
                  <a:srgbClr val="FFFFFF"/>
                </a:solidFill>
              </a:rPr>
              <a:t>Composition Analysis</a:t>
            </a:r>
            <a:endParaRPr lang="en-US" sz="1250" dirty="0"/>
          </a:p>
        </p:txBody>
      </p:sp>
      <p:sp>
        <p:nvSpPr>
          <p:cNvPr id="13" name="Text 11"/>
          <p:cNvSpPr/>
          <p:nvPr/>
        </p:nvSpPr>
        <p:spPr>
          <a:xfrm>
            <a:off x="3355848" y="2176272"/>
            <a:ext cx="2523744" cy="1828800"/>
          </a:xfrm>
          <a:prstGeom prst="rect">
            <a:avLst/>
          </a:prstGeom>
          <a:noFill/>
          <a:ln/>
        </p:spPr>
        <p:txBody>
          <a:bodyPr wrap="square" rtlCol="0" anchor="ctr"/>
          <a:lstStyle/>
          <a:p>
            <a:pPr indent="0" marL="0">
              <a:buNone/>
            </a:pPr>
            <a:r>
              <a:rPr lang="en-US" sz="1200" dirty="0">
                <a:solidFill>
                  <a:srgbClr val="1C2B22"/>
                </a:solidFill>
              </a:rPr>
              <a:t>All 20 amino acids (A,R,N,D,</a:t>
            </a:r>
            <a:endParaRPr lang="en-US" sz="1200" dirty="0"/>
          </a:p>
          <a:p>
            <a:pPr indent="0" marL="0">
              <a:buNone/>
            </a:pPr>
            <a:r>
              <a:rPr lang="en-US" sz="1200" dirty="0">
                <a:solidFill>
                  <a:srgbClr val="1C2B22"/>
                </a:solidFill>
              </a:rPr>
              <a:t>C,Q,E,G,H,I,L,K,M,F,P,S,</a:t>
            </a:r>
            <a:endParaRPr lang="en-US" sz="1200" dirty="0"/>
          </a:p>
          <a:p>
            <a:pPr indent="0" marL="0">
              <a:buNone/>
            </a:pPr>
            <a:r>
              <a:rPr lang="en-US" sz="1200" dirty="0">
                <a:solidFill>
                  <a:srgbClr val="1C2B22"/>
                </a:solidFill>
              </a:rPr>
              <a:t>T,W,Y,V) as % per genome</a:t>
            </a:r>
            <a:endParaRPr lang="en-US" sz="1200" dirty="0"/>
          </a:p>
          <a:p>
            <a:pPr indent="0" marL="0">
              <a:buNone/>
            </a:pPr>
            <a:r>
              <a:rPr lang="en-US" sz="1200" dirty="0">
                <a:solidFill>
                  <a:srgbClr val="1C2B22"/>
                </a:solidFill>
              </a:rPr>
              <a:t>Both single-letter and full names</a:t>
            </a:r>
            <a:endParaRPr lang="en-US" sz="1200" dirty="0"/>
          </a:p>
        </p:txBody>
      </p:sp>
      <p:sp>
        <p:nvSpPr>
          <p:cNvPr id="14" name="Shape 12"/>
          <p:cNvSpPr/>
          <p:nvPr/>
        </p:nvSpPr>
        <p:spPr>
          <a:xfrm>
            <a:off x="6217920" y="1664208"/>
            <a:ext cx="2743200" cy="2450592"/>
          </a:xfrm>
          <a:prstGeom prst="rect">
            <a:avLst/>
          </a:prstGeom>
          <a:solidFill>
            <a:srgbClr val="E8F8EF"/>
          </a:solidFill>
          <a:ln w="19050">
            <a:solidFill>
              <a:srgbClr val="27AE60"/>
            </a:solidFill>
            <a:prstDash val="solid"/>
          </a:ln>
        </p:spPr>
      </p:sp>
      <p:sp>
        <p:nvSpPr>
          <p:cNvPr id="15" name="Shape 13"/>
          <p:cNvSpPr/>
          <p:nvPr/>
        </p:nvSpPr>
        <p:spPr>
          <a:xfrm>
            <a:off x="6217920" y="1664208"/>
            <a:ext cx="2743200" cy="457200"/>
          </a:xfrm>
          <a:prstGeom prst="rect">
            <a:avLst/>
          </a:prstGeom>
          <a:solidFill>
            <a:srgbClr val="1A5C3A"/>
          </a:solidFill>
          <a:ln w="12700">
            <a:solidFill>
              <a:srgbClr val="1A5C3A"/>
            </a:solidFill>
            <a:prstDash val="solid"/>
          </a:ln>
        </p:spPr>
      </p:sp>
      <p:sp>
        <p:nvSpPr>
          <p:cNvPr id="16" name="Text 14"/>
          <p:cNvSpPr/>
          <p:nvPr/>
        </p:nvSpPr>
        <p:spPr>
          <a:xfrm>
            <a:off x="6327648" y="1664208"/>
            <a:ext cx="2523744" cy="457200"/>
          </a:xfrm>
          <a:prstGeom prst="rect">
            <a:avLst/>
          </a:prstGeom>
          <a:noFill/>
          <a:ln/>
        </p:spPr>
        <p:txBody>
          <a:bodyPr wrap="square" rtlCol="0" anchor="ctr"/>
          <a:lstStyle/>
          <a:p>
            <a:pPr indent="0" marL="0">
              <a:buNone/>
            </a:pPr>
            <a:r>
              <a:rPr lang="en-US" sz="1250" b="1" dirty="0">
                <a:solidFill>
                  <a:srgbClr val="FFFFFF"/>
                </a:solidFill>
              </a:rPr>
              <a:t>R Visualizations</a:t>
            </a:r>
            <a:endParaRPr lang="en-US" sz="1250" dirty="0"/>
          </a:p>
        </p:txBody>
      </p:sp>
      <p:sp>
        <p:nvSpPr>
          <p:cNvPr id="17" name="Text 15"/>
          <p:cNvSpPr/>
          <p:nvPr/>
        </p:nvSpPr>
        <p:spPr>
          <a:xfrm>
            <a:off x="6327648" y="2176272"/>
            <a:ext cx="2523744" cy="1828800"/>
          </a:xfrm>
          <a:prstGeom prst="rect">
            <a:avLst/>
          </a:prstGeom>
          <a:noFill/>
          <a:ln/>
        </p:spPr>
        <p:txBody>
          <a:bodyPr wrap="square" rtlCol="0" anchor="ctr"/>
          <a:lstStyle/>
          <a:p>
            <a:pPr indent="0" marL="0">
              <a:buNone/>
            </a:pPr>
            <a:r>
              <a:rPr lang="en-US" sz="1200" dirty="0">
                <a:solidFill>
                  <a:srgbClr val="1C2B22"/>
                </a:solidFill>
              </a:rPr>
              <a:t>AA_Composition_Heatmap</a:t>
            </a:r>
            <a:endParaRPr lang="en-US" sz="1200" dirty="0"/>
          </a:p>
          <a:p>
            <a:pPr indent="0" marL="0">
              <a:buNone/>
            </a:pPr>
            <a:r>
              <a:rPr lang="en-US" sz="1200" dirty="0">
                <a:solidFill>
                  <a:srgbClr val="1C2B22"/>
                </a:solidFill>
              </a:rPr>
              <a:t>Amino_Acid_Comparison bar plot</a:t>
            </a:r>
            <a:endParaRPr lang="en-US" sz="1200" dirty="0"/>
          </a:p>
          <a:p>
            <a:pPr indent="0" marL="0">
              <a:buNone/>
            </a:pPr>
            <a:r>
              <a:rPr lang="en-US" sz="1200" dirty="0">
                <a:solidFill>
                  <a:srgbClr val="1C2B22"/>
                </a:solidFill>
              </a:rPr>
              <a:t>PDF (vector) + PNG (600 DPI)</a:t>
            </a:r>
            <a:endParaRPr lang="en-US" sz="1200" dirty="0"/>
          </a:p>
          <a:p>
            <a:pPr indent="0" marL="0">
              <a:buNone/>
            </a:pPr>
            <a:r>
              <a:rPr lang="en-US" sz="1200" dirty="0">
                <a:solidFill>
                  <a:srgbClr val="1C2B22"/>
                </a:solidFill>
              </a:rPr>
              <a:t>Use --no-figures if R absent</a:t>
            </a:r>
            <a:endParaRPr lang="en-US" sz="1200" dirty="0"/>
          </a:p>
        </p:txBody>
      </p:sp>
      <p:sp>
        <p:nvSpPr>
          <p:cNvPr id="18" name="Shape 16"/>
          <p:cNvSpPr/>
          <p:nvPr/>
        </p:nvSpPr>
        <p:spPr>
          <a:xfrm>
            <a:off x="0" y="4233672"/>
            <a:ext cx="9144000" cy="566928"/>
          </a:xfrm>
          <a:prstGeom prst="rect">
            <a:avLst/>
          </a:prstGeom>
          <a:solidFill>
            <a:srgbClr val="E8F8EF"/>
          </a:solidFill>
          <a:ln w="12700">
            <a:solidFill>
              <a:srgbClr val="E8F8EF"/>
            </a:solidFill>
            <a:prstDash val="solid"/>
          </a:ln>
        </p:spPr>
      </p:sp>
      <p:sp>
        <p:nvSpPr>
          <p:cNvPr id="19" name="Shape 17"/>
          <p:cNvSpPr/>
          <p:nvPr/>
        </p:nvSpPr>
        <p:spPr>
          <a:xfrm>
            <a:off x="0" y="4233672"/>
            <a:ext cx="9144000" cy="36576"/>
          </a:xfrm>
          <a:prstGeom prst="rect">
            <a:avLst/>
          </a:prstGeom>
          <a:solidFill>
            <a:srgbClr val="27AE60"/>
          </a:solidFill>
          <a:ln w="12700">
            <a:solidFill>
              <a:srgbClr val="27AE60"/>
            </a:solidFill>
            <a:prstDash val="solid"/>
          </a:ln>
        </p:spPr>
      </p:sp>
      <p:sp>
        <p:nvSpPr>
          <p:cNvPr id="20" name="Text 18"/>
          <p:cNvSpPr/>
          <p:nvPr/>
        </p:nvSpPr>
        <p:spPr>
          <a:xfrm>
            <a:off x="274320" y="4261104"/>
            <a:ext cx="8595360" cy="502920"/>
          </a:xfrm>
          <a:prstGeom prst="rect">
            <a:avLst/>
          </a:prstGeom>
          <a:noFill/>
          <a:ln/>
        </p:spPr>
        <p:txBody>
          <a:bodyPr wrap="square" rtlCol="0" anchor="ctr"/>
          <a:lstStyle/>
          <a:p>
            <a:pPr indent="0" marL="0">
              <a:buNone/>
            </a:pPr>
            <a:r>
              <a:rPr lang="en-US" sz="1200" i="1" dirty="0">
                <a:solidFill>
                  <a:srgbClr val="4A6B55"/>
                </a:solidFill>
              </a:rPr>
              <a:t>Applications: protein evolution · codon usage bias · phylogenetics · metabolic cost analysis · environmental adaptation.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Quick Start — Three Ways to Run</a:t>
            </a:r>
            <a:endParaRPr lang="en-US" sz="2400" dirty="0"/>
          </a:p>
        </p:txBody>
      </p:sp>
      <p:sp>
        <p:nvSpPr>
          <p:cNvPr id="5" name="Text 3"/>
          <p:cNvSpPr/>
          <p:nvPr/>
        </p:nvSpPr>
        <p:spPr>
          <a:xfrm>
            <a:off x="274320" y="960120"/>
            <a:ext cx="8595360" cy="310896"/>
          </a:xfrm>
          <a:prstGeom prst="rect">
            <a:avLst/>
          </a:prstGeom>
          <a:noFill/>
          <a:ln/>
        </p:spPr>
        <p:txBody>
          <a:bodyPr wrap="square" rtlCol="0" anchor="ctr"/>
          <a:lstStyle/>
          <a:p>
            <a:pPr indent="0" marL="0">
              <a:buNone/>
            </a:pPr>
            <a:r>
              <a:rPr lang="en-US" sz="1300" b="1" dirty="0">
                <a:solidFill>
                  <a:srgbClr val="1A5C3A"/>
                </a:solidFill>
              </a:rPr>
              <a:t>① cgas command</a:t>
            </a:r>
            <a:endParaRPr lang="en-US" sz="1300" dirty="0"/>
          </a:p>
        </p:txBody>
      </p:sp>
      <p:sp>
        <p:nvSpPr>
          <p:cNvPr id="6" name="Shape 4"/>
          <p:cNvSpPr/>
          <p:nvPr/>
        </p:nvSpPr>
        <p:spPr>
          <a:xfrm>
            <a:off x="274320" y="1280160"/>
            <a:ext cx="8595360" cy="438912"/>
          </a:xfrm>
          <a:prstGeom prst="rect">
            <a:avLst/>
          </a:prstGeom>
          <a:solidFill>
            <a:srgbClr val="1A3D2A"/>
          </a:solidFill>
          <a:ln w="12700">
            <a:solidFill>
              <a:srgbClr val="27AE60"/>
            </a:solidFill>
            <a:prstDash val="solid"/>
          </a:ln>
        </p:spPr>
      </p:sp>
      <p:sp>
        <p:nvSpPr>
          <p:cNvPr id="7" name="Text 5"/>
          <p:cNvSpPr/>
          <p:nvPr/>
        </p:nvSpPr>
        <p:spPr>
          <a:xfrm>
            <a:off x="438912" y="1298448"/>
            <a:ext cx="8321040" cy="384048"/>
          </a:xfrm>
          <a:prstGeom prst="rect">
            <a:avLst/>
          </a:prstGeom>
          <a:noFill/>
          <a:ln/>
        </p:spPr>
        <p:txBody>
          <a:bodyPr wrap="square" rtlCol="0" anchor="ctr"/>
          <a:lstStyle/>
          <a:p>
            <a:pPr indent="0" marL="0">
              <a:buNone/>
            </a:pPr>
            <a:r>
              <a:rPr lang="en-US" sz="1400" dirty="0">
                <a:solidFill>
                  <a:srgbClr val="5DDC8A"/>
                </a:solidFill>
                <a:latin typeface="Courier New" pitchFamily="34" charset="0"/>
                <a:ea typeface="Courier New" pitchFamily="34" charset="-122"/>
                <a:cs typeface="Courier New" pitchFamily="34" charset="-120"/>
              </a:rPr>
              <a:t>cgas --module 9</a:t>
            </a:r>
            <a:endParaRPr lang="en-US" sz="1400" dirty="0"/>
          </a:p>
        </p:txBody>
      </p:sp>
      <p:sp>
        <p:nvSpPr>
          <p:cNvPr id="8" name="Text 6"/>
          <p:cNvSpPr/>
          <p:nvPr/>
        </p:nvSpPr>
        <p:spPr>
          <a:xfrm>
            <a:off x="274320" y="1801368"/>
            <a:ext cx="8595360" cy="310896"/>
          </a:xfrm>
          <a:prstGeom prst="rect">
            <a:avLst/>
          </a:prstGeom>
          <a:noFill/>
          <a:ln/>
        </p:spPr>
        <p:txBody>
          <a:bodyPr wrap="square" rtlCol="0" anchor="ctr"/>
          <a:lstStyle/>
          <a:p>
            <a:pPr indent="0" marL="0">
              <a:buNone/>
            </a:pPr>
            <a:r>
              <a:rPr lang="en-US" sz="1300" b="1" dirty="0">
                <a:solidFill>
                  <a:srgbClr val="1A5C3A"/>
                </a:solidFill>
              </a:rPr>
              <a:t>② cgas-amino shortcut</a:t>
            </a:r>
            <a:endParaRPr lang="en-US" sz="1300" dirty="0"/>
          </a:p>
        </p:txBody>
      </p:sp>
      <p:sp>
        <p:nvSpPr>
          <p:cNvPr id="9" name="Shape 7"/>
          <p:cNvSpPr/>
          <p:nvPr/>
        </p:nvSpPr>
        <p:spPr>
          <a:xfrm>
            <a:off x="274320" y="2121408"/>
            <a:ext cx="8595360" cy="438912"/>
          </a:xfrm>
          <a:prstGeom prst="rect">
            <a:avLst/>
          </a:prstGeom>
          <a:solidFill>
            <a:srgbClr val="1A3D2A"/>
          </a:solidFill>
          <a:ln w="12700">
            <a:solidFill>
              <a:srgbClr val="27AE60"/>
            </a:solidFill>
            <a:prstDash val="solid"/>
          </a:ln>
        </p:spPr>
      </p:sp>
      <p:sp>
        <p:nvSpPr>
          <p:cNvPr id="10" name="Text 8"/>
          <p:cNvSpPr/>
          <p:nvPr/>
        </p:nvSpPr>
        <p:spPr>
          <a:xfrm>
            <a:off x="438912" y="2139696"/>
            <a:ext cx="8321040" cy="384048"/>
          </a:xfrm>
          <a:prstGeom prst="rect">
            <a:avLst/>
          </a:prstGeom>
          <a:noFill/>
          <a:ln/>
        </p:spPr>
        <p:txBody>
          <a:bodyPr wrap="square" rtlCol="0" anchor="ctr"/>
          <a:lstStyle/>
          <a:p>
            <a:pPr indent="0" marL="0">
              <a:buNone/>
            </a:pPr>
            <a:r>
              <a:rPr lang="en-US" sz="1400" dirty="0">
                <a:solidFill>
                  <a:srgbClr val="5DDC8A"/>
                </a:solidFill>
                <a:latin typeface="Courier New" pitchFamily="34" charset="0"/>
                <a:ea typeface="Courier New" pitchFamily="34" charset="-122"/>
                <a:cs typeface="Courier New" pitchFamily="34" charset="-120"/>
              </a:rPr>
              <a:t>cgas-amino</a:t>
            </a:r>
            <a:endParaRPr lang="en-US" sz="1400" dirty="0"/>
          </a:p>
        </p:txBody>
      </p:sp>
      <p:sp>
        <p:nvSpPr>
          <p:cNvPr id="11" name="Text 9"/>
          <p:cNvSpPr/>
          <p:nvPr/>
        </p:nvSpPr>
        <p:spPr>
          <a:xfrm>
            <a:off x="274320" y="2642616"/>
            <a:ext cx="8595360" cy="310896"/>
          </a:xfrm>
          <a:prstGeom prst="rect">
            <a:avLst/>
          </a:prstGeom>
          <a:noFill/>
          <a:ln/>
        </p:spPr>
        <p:txBody>
          <a:bodyPr wrap="square" rtlCol="0" anchor="ctr"/>
          <a:lstStyle/>
          <a:p>
            <a:pPr indent="0" marL="0">
              <a:buNone/>
            </a:pPr>
            <a:r>
              <a:rPr lang="en-US" sz="1300" b="1" dirty="0">
                <a:solidFill>
                  <a:srgbClr val="1A5C3A"/>
                </a:solidFill>
              </a:rPr>
              <a:t>③ Python directly</a:t>
            </a:r>
            <a:endParaRPr lang="en-US" sz="1300" dirty="0"/>
          </a:p>
        </p:txBody>
      </p:sp>
      <p:sp>
        <p:nvSpPr>
          <p:cNvPr id="12" name="Shape 10"/>
          <p:cNvSpPr/>
          <p:nvPr/>
        </p:nvSpPr>
        <p:spPr>
          <a:xfrm>
            <a:off x="274320" y="2962656"/>
            <a:ext cx="8595360" cy="438912"/>
          </a:xfrm>
          <a:prstGeom prst="rect">
            <a:avLst/>
          </a:prstGeom>
          <a:solidFill>
            <a:srgbClr val="1A3D2A"/>
          </a:solidFill>
          <a:ln w="12700">
            <a:solidFill>
              <a:srgbClr val="27AE60"/>
            </a:solidFill>
            <a:prstDash val="solid"/>
          </a:ln>
        </p:spPr>
      </p:sp>
      <p:sp>
        <p:nvSpPr>
          <p:cNvPr id="13" name="Text 11"/>
          <p:cNvSpPr/>
          <p:nvPr/>
        </p:nvSpPr>
        <p:spPr>
          <a:xfrm>
            <a:off x="438912" y="2980944"/>
            <a:ext cx="8321040" cy="384048"/>
          </a:xfrm>
          <a:prstGeom prst="rect">
            <a:avLst/>
          </a:prstGeom>
          <a:noFill/>
          <a:ln/>
        </p:spPr>
        <p:txBody>
          <a:bodyPr wrap="square" rtlCol="0" anchor="ctr"/>
          <a:lstStyle/>
          <a:p>
            <a:pPr indent="0" marL="0">
              <a:buNone/>
            </a:pPr>
            <a:r>
              <a:rPr lang="en-US" sz="1400" dirty="0">
                <a:solidFill>
                  <a:srgbClr val="5DDC8A"/>
                </a:solidFill>
                <a:latin typeface="Courier New" pitchFamily="34" charset="0"/>
                <a:ea typeface="Courier New" pitchFamily="34" charset="-122"/>
                <a:cs typeface="Courier New" pitchFamily="34" charset="-120"/>
              </a:rPr>
              <a:t>python cgas_module9.py</a:t>
            </a:r>
            <a:endParaRPr lang="en-US" sz="1400" dirty="0"/>
          </a:p>
        </p:txBody>
      </p:sp>
      <p:sp>
        <p:nvSpPr>
          <p:cNvPr id="14" name="Shape 12"/>
          <p:cNvSpPr/>
          <p:nvPr/>
        </p:nvSpPr>
        <p:spPr>
          <a:xfrm>
            <a:off x="274320" y="3511296"/>
            <a:ext cx="8595360" cy="1261872"/>
          </a:xfrm>
          <a:prstGeom prst="rect">
            <a:avLst/>
          </a:prstGeom>
          <a:solidFill>
            <a:srgbClr val="E8F8EF"/>
          </a:solidFill>
          <a:ln w="12700">
            <a:solidFill>
              <a:srgbClr val="27AE60"/>
            </a:solidFill>
            <a:prstDash val="solid"/>
          </a:ln>
        </p:spPr>
      </p:sp>
      <p:sp>
        <p:nvSpPr>
          <p:cNvPr id="15" name="Text 13"/>
          <p:cNvSpPr/>
          <p:nvPr/>
        </p:nvSpPr>
        <p:spPr>
          <a:xfrm>
            <a:off x="438912" y="3547872"/>
            <a:ext cx="8229600" cy="274320"/>
          </a:xfrm>
          <a:prstGeom prst="rect">
            <a:avLst/>
          </a:prstGeom>
          <a:noFill/>
          <a:ln/>
        </p:spPr>
        <p:txBody>
          <a:bodyPr wrap="square" rtlCol="0" anchor="ctr"/>
          <a:lstStyle/>
          <a:p>
            <a:pPr indent="0" marL="0">
              <a:buNone/>
            </a:pPr>
            <a:r>
              <a:rPr lang="en-US" sz="1200" b="1" dirty="0">
                <a:solidFill>
                  <a:srgbClr val="1A5C3A"/>
                </a:solidFill>
              </a:rPr>
              <a:t>Options:</a:t>
            </a:r>
            <a:endParaRPr lang="en-US" sz="1200" dirty="0"/>
          </a:p>
        </p:txBody>
      </p:sp>
      <p:sp>
        <p:nvSpPr>
          <p:cNvPr id="16" name="Text 14"/>
          <p:cNvSpPr/>
          <p:nvPr/>
        </p:nvSpPr>
        <p:spPr>
          <a:xfrm>
            <a:off x="438912" y="3840480"/>
            <a:ext cx="8229600" cy="228600"/>
          </a:xfrm>
          <a:prstGeom prst="rect">
            <a:avLst/>
          </a:prstGeom>
          <a:noFill/>
          <a:ln/>
        </p:spPr>
        <p:txBody>
          <a:bodyPr wrap="square" rtlCol="0" anchor="ctr"/>
          <a:lstStyle/>
          <a:p>
            <a:pPr indent="0" marL="0">
              <a:buNone/>
            </a:pPr>
            <a:r>
              <a:rPr lang="en-US" sz="1100" dirty="0">
                <a:solidFill>
                  <a:srgbClr val="4A6B55"/>
                </a:solidFill>
                <a:latin typeface="Courier New" pitchFamily="34" charset="0"/>
                <a:ea typeface="Courier New" pitchFamily="34" charset="-122"/>
                <a:cs typeface="Courier New" pitchFamily="34" charset="-120"/>
              </a:rPr>
              <a:t>python cgas_module9.py -i genbank_files/          # Specify input folder</a:t>
            </a:r>
            <a:endParaRPr lang="en-US" sz="1100" dirty="0"/>
          </a:p>
        </p:txBody>
      </p:sp>
      <p:sp>
        <p:nvSpPr>
          <p:cNvPr id="17" name="Text 15"/>
          <p:cNvSpPr/>
          <p:nvPr/>
        </p:nvSpPr>
        <p:spPr>
          <a:xfrm>
            <a:off x="438912" y="4096512"/>
            <a:ext cx="8229600" cy="228600"/>
          </a:xfrm>
          <a:prstGeom prst="rect">
            <a:avLst/>
          </a:prstGeom>
          <a:noFill/>
          <a:ln/>
        </p:spPr>
        <p:txBody>
          <a:bodyPr wrap="square" rtlCol="0" anchor="ctr"/>
          <a:lstStyle/>
          <a:p>
            <a:pPr indent="0" marL="0">
              <a:buNone/>
            </a:pPr>
            <a:r>
              <a:rPr lang="en-US" sz="1100" dirty="0">
                <a:solidFill>
                  <a:srgbClr val="4A6B55"/>
                </a:solidFill>
                <a:latin typeface="Courier New" pitchFamily="34" charset="0"/>
                <a:ea typeface="Courier New" pitchFamily="34" charset="-122"/>
                <a:cs typeface="Courier New" pitchFamily="34" charset="-120"/>
              </a:rPr>
              <a:t>python cgas_module9.py -i data/ -o AA_Results/    # Custom output</a:t>
            </a:r>
            <a:endParaRPr lang="en-US" sz="1100" dirty="0"/>
          </a:p>
        </p:txBody>
      </p:sp>
      <p:sp>
        <p:nvSpPr>
          <p:cNvPr id="18" name="Text 16"/>
          <p:cNvSpPr/>
          <p:nvPr/>
        </p:nvSpPr>
        <p:spPr>
          <a:xfrm>
            <a:off x="438912" y="4352544"/>
            <a:ext cx="8229600" cy="228600"/>
          </a:xfrm>
          <a:prstGeom prst="rect">
            <a:avLst/>
          </a:prstGeom>
          <a:noFill/>
          <a:ln/>
        </p:spPr>
        <p:txBody>
          <a:bodyPr wrap="square" rtlCol="0" anchor="ctr"/>
          <a:lstStyle/>
          <a:p>
            <a:pPr indent="0" marL="0">
              <a:buNone/>
            </a:pPr>
            <a:r>
              <a:rPr lang="en-US" sz="1100" dirty="0">
                <a:solidFill>
                  <a:srgbClr val="4A6B55"/>
                </a:solidFill>
                <a:latin typeface="Courier New" pitchFamily="34" charset="0"/>
                <a:ea typeface="Courier New" pitchFamily="34" charset="-122"/>
                <a:cs typeface="Courier New" pitchFamily="34" charset="-120"/>
              </a:rPr>
              <a:t>python cgas_module9.py --no-figures               # Skip R graphs (if R not installed)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Output Structure</a:t>
            </a:r>
            <a:endParaRPr lang="en-US" sz="2400" dirty="0"/>
          </a:p>
        </p:txBody>
      </p:sp>
      <p:sp>
        <p:nvSpPr>
          <p:cNvPr id="5" name="Shape 3"/>
          <p:cNvSpPr/>
          <p:nvPr/>
        </p:nvSpPr>
        <p:spPr>
          <a:xfrm>
            <a:off x="274320" y="932688"/>
            <a:ext cx="4160520" cy="3858768"/>
          </a:xfrm>
          <a:prstGeom prst="rect">
            <a:avLst/>
          </a:prstGeom>
          <a:solidFill>
            <a:srgbClr val="1A3D2A"/>
          </a:solidFill>
          <a:ln w="12700">
            <a:solidFill>
              <a:srgbClr val="27AE60"/>
            </a:solidFill>
            <a:prstDash val="solid"/>
          </a:ln>
        </p:spPr>
      </p:sp>
      <p:sp>
        <p:nvSpPr>
          <p:cNvPr id="6" name="Text 4"/>
          <p:cNvSpPr/>
          <p:nvPr/>
        </p:nvSpPr>
        <p:spPr>
          <a:xfrm>
            <a:off x="438912" y="1042416"/>
            <a:ext cx="3931920" cy="3657600"/>
          </a:xfrm>
          <a:prstGeom prst="rect">
            <a:avLst/>
          </a:prstGeom>
          <a:noFill/>
          <a:ln/>
        </p:spPr>
        <p:txBody>
          <a:bodyPr wrap="square" rtlCol="0" anchor="t"/>
          <a:lstStyle/>
          <a:p>
            <a:pPr indent="0" marL="0">
              <a:buNone/>
            </a:pPr>
            <a:r>
              <a:rPr lang="en-US" sz="1150" b="1" dirty="0">
                <a:solidFill>
                  <a:srgbClr val="5DDC8A"/>
                </a:solidFill>
                <a:latin typeface="Courier New" pitchFamily="34" charset="0"/>
                <a:ea typeface="Courier New" pitchFamily="34" charset="-122"/>
                <a:cs typeface="Courier New" pitchFamily="34" charset="-120"/>
              </a:rPr>
              <a:t>Module9_Amino_Acid_Analysis/
</a:t>
            </a:r>
            <a:pPr indent="0" marL="0">
              <a:buNone/>
            </a:pPr>
            <a:r>
              <a:rPr lang="en-US" sz="1150" dirty="0">
                <a:solidFill>
                  <a:srgbClr val="A8D5BE"/>
                </a:solidFill>
                <a:latin typeface="Courier New" pitchFamily="34" charset="0"/>
                <a:ea typeface="Courier New" pitchFamily="34" charset="-122"/>
                <a:cs typeface="Courier New" pitchFamily="34" charset="-120"/>
              </a:rPr>
              <a:t>├── Species1_AminoAcid.xlsx  </a:t>
            </a:r>
            <a:pPr indent="0" marL="0">
              <a:buNone/>
            </a:pPr>
            <a:r>
              <a:rPr lang="en-US" sz="1150" dirty="0">
                <a:solidFill>
                  <a:srgbClr val="5A9E70"/>
                </a:solidFill>
                <a:latin typeface="Courier New" pitchFamily="34" charset="0"/>
                <a:ea typeface="Courier New" pitchFamily="34" charset="-122"/>
                <a:cs typeface="Courier New" pitchFamily="34" charset="-120"/>
              </a:rPr>
              <a:t># Per genome
</a:t>
            </a:r>
            <a:pPr indent="0" marL="0">
              <a:buNone/>
            </a:pPr>
            <a:r>
              <a:rPr lang="en-US" sz="1150" dirty="0">
                <a:solidFill>
                  <a:srgbClr val="A8D5BE"/>
                </a:solidFill>
                <a:latin typeface="Courier New" pitchFamily="34" charset="0"/>
                <a:ea typeface="Courier New" pitchFamily="34" charset="-122"/>
                <a:cs typeface="Courier New" pitchFamily="34" charset="-120"/>
              </a:rPr>
              <a:t>├── Species2_AminoAcid.xlsx
</a:t>
            </a:r>
            <a:pPr indent="0" marL="0">
              <a:buNone/>
            </a:pPr>
            <a:r>
              <a:rPr lang="en-US" sz="1150" dirty="0">
                <a:solidFill>
                  <a:srgbClr val="5DDC8A"/>
                </a:solidFill>
                <a:latin typeface="Courier New" pitchFamily="34" charset="0"/>
                <a:ea typeface="Courier New" pitchFamily="34" charset="-122"/>
                <a:cs typeface="Courier New" pitchFamily="34" charset="-120"/>
              </a:rPr>
              <a:t>├── Complete_Amino_Acid_Analysis.xlsx  </a:t>
            </a:r>
            <a:pPr indent="0" marL="0">
              <a:buNone/>
            </a:pPr>
            <a:r>
              <a:rPr lang="en-US" sz="1150" dirty="0">
                <a:solidFill>
                  <a:srgbClr val="5A9E70"/>
                </a:solidFill>
                <a:latin typeface="Courier New" pitchFamily="34" charset="0"/>
                <a:ea typeface="Courier New" pitchFamily="34" charset="-122"/>
                <a:cs typeface="Courier New" pitchFamily="34" charset="-120"/>
              </a:rPr>
              <a:t># All
</a:t>
            </a:r>
            <a:pPr indent="0" marL="0">
              <a:buNone/>
            </a:pPr>
            <a:r>
              <a:rPr lang="en-US" sz="1150" dirty="0">
                <a:solidFill>
                  <a:srgbClr val="A8D5BE"/>
                </a:solidFill>
                <a:latin typeface="Courier New" pitchFamily="34" charset="0"/>
                <a:ea typeface="Courier New" pitchFamily="34" charset="-122"/>
                <a:cs typeface="Courier New" pitchFamily="34" charset="-120"/>
              </a:rPr>
              <a:t>├── Complete_Amino_Acid_Analysis.csv  </a:t>
            </a:r>
            <a:pPr indent="0" marL="0">
              <a:buNone/>
            </a:pPr>
            <a:r>
              <a:rPr lang="en-US" sz="1150" dirty="0">
                <a:solidFill>
                  <a:srgbClr val="5A9E70"/>
                </a:solidFill>
                <a:latin typeface="Courier New" pitchFamily="34" charset="0"/>
                <a:ea typeface="Courier New" pitchFamily="34" charset="-122"/>
                <a:cs typeface="Courier New" pitchFamily="34" charset="-120"/>
              </a:rPr>
              <a:t># R input
</a:t>
            </a:r>
            <a:pPr indent="0" marL="0">
              <a:buNone/>
            </a:pPr>
            <a:r>
              <a:rPr lang="en-US" sz="1150" b="1" dirty="0">
                <a:solidFill>
                  <a:srgbClr val="5DDC8A"/>
                </a:solidFill>
                <a:latin typeface="Courier New" pitchFamily="34" charset="0"/>
                <a:ea typeface="Courier New" pitchFamily="34" charset="-122"/>
                <a:cs typeface="Courier New" pitchFamily="34" charset="-120"/>
              </a:rPr>
              <a:t>└── Figures/
</a:t>
            </a:r>
            <a:pPr indent="0" marL="0">
              <a:buNone/>
            </a:pPr>
            <a:r>
              <a:rPr lang="en-US" sz="1150" dirty="0">
                <a:solidFill>
                  <a:srgbClr val="A8D5BE"/>
                </a:solidFill>
                <a:latin typeface="Courier New" pitchFamily="34" charset="0"/>
                <a:ea typeface="Courier New" pitchFamily="34" charset="-122"/>
                <a:cs typeface="Courier New" pitchFamily="34" charset="-120"/>
              </a:rPr>
              <a:t>    ├── AA_Composition_Heatmap.pdf/.png
</a:t>
            </a:r>
            <a:pPr indent="0" marL="0">
              <a:buNone/>
            </a:pPr>
            <a:r>
              <a:rPr lang="en-US" sz="1150" dirty="0">
                <a:solidFill>
                  <a:srgbClr val="A8D5BE"/>
                </a:solidFill>
                <a:latin typeface="Courier New" pitchFamily="34" charset="0"/>
                <a:ea typeface="Courier New" pitchFamily="34" charset="-122"/>
                <a:cs typeface="Courier New" pitchFamily="34" charset="-120"/>
              </a:rPr>
              <a:t>    └── Amino_Acid_Comparison.pdf/.png</a:t>
            </a:r>
            <a:endParaRPr lang="en-US" sz="1150" dirty="0"/>
          </a:p>
        </p:txBody>
      </p:sp>
      <p:sp>
        <p:nvSpPr>
          <p:cNvPr id="7" name="Shape 5"/>
          <p:cNvSpPr/>
          <p:nvPr/>
        </p:nvSpPr>
        <p:spPr>
          <a:xfrm>
            <a:off x="4709160" y="960120"/>
            <a:ext cx="4160520" cy="804672"/>
          </a:xfrm>
          <a:prstGeom prst="rect">
            <a:avLst/>
          </a:prstGeom>
          <a:solidFill>
            <a:srgbClr val="E8F8EF"/>
          </a:solidFill>
          <a:ln w="12700">
            <a:solidFill>
              <a:srgbClr val="27AE60"/>
            </a:solidFill>
            <a:prstDash val="solid"/>
          </a:ln>
        </p:spPr>
      </p:sp>
      <p:sp>
        <p:nvSpPr>
          <p:cNvPr id="8" name="Text 6"/>
          <p:cNvSpPr/>
          <p:nvPr/>
        </p:nvSpPr>
        <p:spPr>
          <a:xfrm>
            <a:off x="4773168" y="1051560"/>
            <a:ext cx="54864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5394960" y="1033272"/>
            <a:ext cx="3337560" cy="320040"/>
          </a:xfrm>
          <a:prstGeom prst="rect">
            <a:avLst/>
          </a:prstGeom>
          <a:noFill/>
          <a:ln/>
        </p:spPr>
        <p:txBody>
          <a:bodyPr wrap="square" rtlCol="0" anchor="ctr"/>
          <a:lstStyle/>
          <a:p>
            <a:pPr indent="0" marL="0">
              <a:buNone/>
            </a:pPr>
            <a:r>
              <a:rPr lang="en-US" sz="1300" b="1" dirty="0">
                <a:solidFill>
                  <a:srgbClr val="1A5C3A"/>
                </a:solidFill>
              </a:rPr>
              <a:t>Per-genome Excel</a:t>
            </a:r>
            <a:endParaRPr lang="en-US" sz="1300" dirty="0"/>
          </a:p>
        </p:txBody>
      </p:sp>
      <p:sp>
        <p:nvSpPr>
          <p:cNvPr id="10" name="Text 8"/>
          <p:cNvSpPr/>
          <p:nvPr/>
        </p:nvSpPr>
        <p:spPr>
          <a:xfrm>
            <a:off x="5394960" y="1380744"/>
            <a:ext cx="3337560" cy="274320"/>
          </a:xfrm>
          <a:prstGeom prst="rect">
            <a:avLst/>
          </a:prstGeom>
          <a:noFill/>
          <a:ln/>
        </p:spPr>
        <p:txBody>
          <a:bodyPr wrap="square" rtlCol="0" anchor="ctr"/>
          <a:lstStyle/>
          <a:p>
            <a:pPr indent="0" marL="0">
              <a:buNone/>
            </a:pPr>
            <a:r>
              <a:rPr lang="en-US" sz="1100" dirty="0">
                <a:solidFill>
                  <a:srgbClr val="4A6B55"/>
                </a:solidFill>
              </a:rPr>
              <a:t>20 amino acids with single-letter code, full name, count, and % composition</a:t>
            </a:r>
            <a:endParaRPr lang="en-US" sz="1100" dirty="0"/>
          </a:p>
        </p:txBody>
      </p:sp>
      <p:sp>
        <p:nvSpPr>
          <p:cNvPr id="11" name="Shape 9"/>
          <p:cNvSpPr/>
          <p:nvPr/>
        </p:nvSpPr>
        <p:spPr>
          <a:xfrm>
            <a:off x="4709160" y="1911096"/>
            <a:ext cx="4160520" cy="804672"/>
          </a:xfrm>
          <a:prstGeom prst="rect">
            <a:avLst/>
          </a:prstGeom>
          <a:solidFill>
            <a:srgbClr val="E8F8EF"/>
          </a:solidFill>
          <a:ln w="12700">
            <a:solidFill>
              <a:srgbClr val="27AE60"/>
            </a:solidFill>
            <a:prstDash val="solid"/>
          </a:ln>
        </p:spPr>
      </p:sp>
      <p:sp>
        <p:nvSpPr>
          <p:cNvPr id="12" name="Text 10"/>
          <p:cNvSpPr/>
          <p:nvPr/>
        </p:nvSpPr>
        <p:spPr>
          <a:xfrm>
            <a:off x="4773168" y="2002536"/>
            <a:ext cx="54864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5394960" y="1984248"/>
            <a:ext cx="3337560" cy="320040"/>
          </a:xfrm>
          <a:prstGeom prst="rect">
            <a:avLst/>
          </a:prstGeom>
          <a:noFill/>
          <a:ln/>
        </p:spPr>
        <p:txBody>
          <a:bodyPr wrap="square" rtlCol="0" anchor="ctr"/>
          <a:lstStyle/>
          <a:p>
            <a:pPr indent="0" marL="0">
              <a:buNone/>
            </a:pPr>
            <a:r>
              <a:rPr lang="en-US" sz="1300" b="1" dirty="0">
                <a:solidFill>
                  <a:srgbClr val="1A5C3A"/>
                </a:solidFill>
              </a:rPr>
              <a:t>Merged comparative</a:t>
            </a:r>
            <a:endParaRPr lang="en-US" sz="1300" dirty="0"/>
          </a:p>
        </p:txBody>
      </p:sp>
      <p:sp>
        <p:nvSpPr>
          <p:cNvPr id="14" name="Text 12"/>
          <p:cNvSpPr/>
          <p:nvPr/>
        </p:nvSpPr>
        <p:spPr>
          <a:xfrm>
            <a:off x="5394960" y="2331720"/>
            <a:ext cx="3337560" cy="274320"/>
          </a:xfrm>
          <a:prstGeom prst="rect">
            <a:avLst/>
          </a:prstGeom>
          <a:noFill/>
          <a:ln/>
        </p:spPr>
        <p:txBody>
          <a:bodyPr wrap="square" rtlCol="0" anchor="ctr"/>
          <a:lstStyle/>
          <a:p>
            <a:pPr indent="0" marL="0">
              <a:buNone/>
            </a:pPr>
            <a:r>
              <a:rPr lang="en-US" sz="1100" dirty="0">
                <a:solidFill>
                  <a:srgbClr val="4A6B55"/>
                </a:solidFill>
              </a:rPr>
              <a:t>All genomes in one file — compare amino acid profiles side by side across species</a:t>
            </a:r>
            <a:endParaRPr lang="en-US" sz="1100" dirty="0"/>
          </a:p>
        </p:txBody>
      </p:sp>
      <p:sp>
        <p:nvSpPr>
          <p:cNvPr id="15" name="Shape 13"/>
          <p:cNvSpPr/>
          <p:nvPr/>
        </p:nvSpPr>
        <p:spPr>
          <a:xfrm>
            <a:off x="4709160" y="2862072"/>
            <a:ext cx="4160520" cy="804672"/>
          </a:xfrm>
          <a:prstGeom prst="rect">
            <a:avLst/>
          </a:prstGeom>
          <a:solidFill>
            <a:srgbClr val="E8F8EF"/>
          </a:solidFill>
          <a:ln w="12700">
            <a:solidFill>
              <a:srgbClr val="27AE60"/>
            </a:solidFill>
            <a:prstDash val="solid"/>
          </a:ln>
        </p:spPr>
      </p:sp>
      <p:sp>
        <p:nvSpPr>
          <p:cNvPr id="16" name="Text 14"/>
          <p:cNvSpPr/>
          <p:nvPr/>
        </p:nvSpPr>
        <p:spPr>
          <a:xfrm>
            <a:off x="4773168" y="2953512"/>
            <a:ext cx="54864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5394960" y="2935224"/>
            <a:ext cx="3337560" cy="320040"/>
          </a:xfrm>
          <a:prstGeom prst="rect">
            <a:avLst/>
          </a:prstGeom>
          <a:noFill/>
          <a:ln/>
        </p:spPr>
        <p:txBody>
          <a:bodyPr wrap="square" rtlCol="0" anchor="ctr"/>
          <a:lstStyle/>
          <a:p>
            <a:pPr indent="0" marL="0">
              <a:buNone/>
            </a:pPr>
            <a:r>
              <a:rPr lang="en-US" sz="1300" b="1" dirty="0">
                <a:solidFill>
                  <a:srgbClr val="1A5C3A"/>
                </a:solidFill>
              </a:rPr>
              <a:t>Heatmap (R)</a:t>
            </a:r>
            <a:endParaRPr lang="en-US" sz="1300" dirty="0"/>
          </a:p>
        </p:txBody>
      </p:sp>
      <p:sp>
        <p:nvSpPr>
          <p:cNvPr id="18" name="Text 16"/>
          <p:cNvSpPr/>
          <p:nvPr/>
        </p:nvSpPr>
        <p:spPr>
          <a:xfrm>
            <a:off x="5394960" y="3282696"/>
            <a:ext cx="3337560" cy="274320"/>
          </a:xfrm>
          <a:prstGeom prst="rect">
            <a:avLst/>
          </a:prstGeom>
          <a:noFill/>
          <a:ln/>
        </p:spPr>
        <p:txBody>
          <a:bodyPr wrap="square" rtlCol="0" anchor="ctr"/>
          <a:lstStyle/>
          <a:p>
            <a:pPr indent="0" marL="0">
              <a:buNone/>
            </a:pPr>
            <a:r>
              <a:rPr lang="en-US" sz="1100" dirty="0">
                <a:solidFill>
                  <a:srgbClr val="4A6B55"/>
                </a:solidFill>
              </a:rPr>
              <a:t>20 AAs × all genomes — colour gradient shows composition patterns — PDF + PNG 600 DPI</a:t>
            </a:r>
            <a:endParaRPr lang="en-US" sz="1100" dirty="0"/>
          </a:p>
        </p:txBody>
      </p:sp>
      <p:sp>
        <p:nvSpPr>
          <p:cNvPr id="19" name="Shape 17"/>
          <p:cNvSpPr/>
          <p:nvPr/>
        </p:nvSpPr>
        <p:spPr>
          <a:xfrm>
            <a:off x="4709160" y="3813048"/>
            <a:ext cx="4160520" cy="804672"/>
          </a:xfrm>
          <a:prstGeom prst="rect">
            <a:avLst/>
          </a:prstGeom>
          <a:solidFill>
            <a:srgbClr val="E8F8EF"/>
          </a:solidFill>
          <a:ln w="12700">
            <a:solidFill>
              <a:srgbClr val="27AE60"/>
            </a:solidFill>
            <a:prstDash val="solid"/>
          </a:ln>
        </p:spPr>
      </p:sp>
      <p:sp>
        <p:nvSpPr>
          <p:cNvPr id="20" name="Text 18"/>
          <p:cNvSpPr/>
          <p:nvPr/>
        </p:nvSpPr>
        <p:spPr>
          <a:xfrm>
            <a:off x="4773168" y="3904488"/>
            <a:ext cx="548640" cy="59436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1" name="Text 19"/>
          <p:cNvSpPr/>
          <p:nvPr/>
        </p:nvSpPr>
        <p:spPr>
          <a:xfrm>
            <a:off x="5394960" y="3886200"/>
            <a:ext cx="3337560" cy="320040"/>
          </a:xfrm>
          <a:prstGeom prst="rect">
            <a:avLst/>
          </a:prstGeom>
          <a:noFill/>
          <a:ln/>
        </p:spPr>
        <p:txBody>
          <a:bodyPr wrap="square" rtlCol="0" anchor="ctr"/>
          <a:lstStyle/>
          <a:p>
            <a:pPr indent="0" marL="0">
              <a:buNone/>
            </a:pPr>
            <a:r>
              <a:rPr lang="en-US" sz="1300" b="1" dirty="0">
                <a:solidFill>
                  <a:srgbClr val="1A5C3A"/>
                </a:solidFill>
              </a:rPr>
              <a:t>Bar comparison (R)</a:t>
            </a:r>
            <a:endParaRPr lang="en-US" sz="1300" dirty="0"/>
          </a:p>
        </p:txBody>
      </p:sp>
      <p:sp>
        <p:nvSpPr>
          <p:cNvPr id="22" name="Text 20"/>
          <p:cNvSpPr/>
          <p:nvPr/>
        </p:nvSpPr>
        <p:spPr>
          <a:xfrm>
            <a:off x="5394960" y="4233672"/>
            <a:ext cx="3337560" cy="274320"/>
          </a:xfrm>
          <a:prstGeom prst="rect">
            <a:avLst/>
          </a:prstGeom>
          <a:noFill/>
          <a:ln/>
        </p:spPr>
        <p:txBody>
          <a:bodyPr wrap="square" rtlCol="0" anchor="ctr"/>
          <a:lstStyle/>
          <a:p>
            <a:pPr indent="0" marL="0">
              <a:buNone/>
            </a:pPr>
            <a:r>
              <a:rPr lang="en-US" sz="1100" dirty="0">
                <a:solidFill>
                  <a:srgbClr val="4A6B55"/>
                </a:solidFill>
              </a:rPr>
              <a:t>Direct bar plot for representative species — PDF + PNG at 600 DPI</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Step-by-Step: Practical Demo</a:t>
            </a:r>
            <a:endParaRPr lang="en-US" sz="2400" dirty="0"/>
          </a:p>
        </p:txBody>
      </p:sp>
      <p:sp>
        <p:nvSpPr>
          <p:cNvPr id="5" name="Shape 3"/>
          <p:cNvSpPr/>
          <p:nvPr/>
        </p:nvSpPr>
        <p:spPr>
          <a:xfrm>
            <a:off x="274320" y="932688"/>
            <a:ext cx="4160520" cy="1901952"/>
          </a:xfrm>
          <a:prstGeom prst="rect">
            <a:avLst/>
          </a:prstGeom>
          <a:solidFill>
            <a:srgbClr val="E8F8EF"/>
          </a:solidFill>
          <a:ln w="12700">
            <a:solidFill>
              <a:srgbClr val="27AE60"/>
            </a:solidFill>
            <a:prstDash val="solid"/>
          </a:ln>
        </p:spPr>
      </p:sp>
      <p:sp>
        <p:nvSpPr>
          <p:cNvPr id="6" name="Shape 4"/>
          <p:cNvSpPr/>
          <p:nvPr/>
        </p:nvSpPr>
        <p:spPr>
          <a:xfrm>
            <a:off x="274320" y="932688"/>
            <a:ext cx="4160520" cy="420624"/>
          </a:xfrm>
          <a:prstGeom prst="rect">
            <a:avLst/>
          </a:prstGeom>
          <a:solidFill>
            <a:srgbClr val="1A5C3A"/>
          </a:solidFill>
          <a:ln w="12700">
            <a:solidFill>
              <a:srgbClr val="1A5C3A"/>
            </a:solidFill>
            <a:prstDash val="solid"/>
          </a:ln>
        </p:spPr>
      </p:sp>
      <p:sp>
        <p:nvSpPr>
          <p:cNvPr id="7" name="Shape 5"/>
          <p:cNvSpPr/>
          <p:nvPr/>
        </p:nvSpPr>
        <p:spPr>
          <a:xfrm>
            <a:off x="365760" y="987552"/>
            <a:ext cx="310896" cy="310896"/>
          </a:xfrm>
          <a:prstGeom prst="ellipse">
            <a:avLst/>
          </a:prstGeom>
          <a:solidFill>
            <a:srgbClr val="27AE60"/>
          </a:solidFill>
          <a:ln w="12700">
            <a:solidFill>
              <a:srgbClr val="27AE60"/>
            </a:solidFill>
            <a:prstDash val="solid"/>
          </a:ln>
        </p:spPr>
      </p:sp>
      <p:sp>
        <p:nvSpPr>
          <p:cNvPr id="8" name="Text 6"/>
          <p:cNvSpPr/>
          <p:nvPr/>
        </p:nvSpPr>
        <p:spPr>
          <a:xfrm>
            <a:off x="365760" y="987552"/>
            <a:ext cx="310896" cy="310896"/>
          </a:xfrm>
          <a:prstGeom prst="rect">
            <a:avLst/>
          </a:prstGeom>
          <a:noFill/>
          <a:ln/>
        </p:spPr>
        <p:txBody>
          <a:bodyPr wrap="square" lIns="0" tIns="0" rIns="0" bIns="0" rtlCol="0" anchor="ctr"/>
          <a:lstStyle/>
          <a:p>
            <a:pPr algn="ctr" indent="0" marL="0">
              <a:buNone/>
            </a:pPr>
            <a:r>
              <a:rPr lang="en-US" sz="1100" b="1" dirty="0">
                <a:solidFill>
                  <a:srgbClr val="1A5C3A"/>
                </a:solidFill>
              </a:rPr>
              <a:t>1</a:t>
            </a:r>
            <a:endParaRPr lang="en-US" sz="1100" dirty="0"/>
          </a:p>
        </p:txBody>
      </p:sp>
      <p:sp>
        <p:nvSpPr>
          <p:cNvPr id="9" name="Text 7"/>
          <p:cNvSpPr/>
          <p:nvPr/>
        </p:nvSpPr>
        <p:spPr>
          <a:xfrm>
            <a:off x="768096" y="996696"/>
            <a:ext cx="3547872" cy="301752"/>
          </a:xfrm>
          <a:prstGeom prst="rect">
            <a:avLst/>
          </a:prstGeom>
          <a:noFill/>
          <a:ln/>
        </p:spPr>
        <p:txBody>
          <a:bodyPr wrap="square" rtlCol="0" anchor="ctr"/>
          <a:lstStyle/>
          <a:p>
            <a:pPr indent="0" marL="0">
              <a:buNone/>
            </a:pPr>
            <a:r>
              <a:rPr lang="en-US" sz="1200" b="1" dirty="0">
                <a:solidFill>
                  <a:srgbClr val="FFFFFF"/>
                </a:solidFill>
              </a:rPr>
              <a:t>Place GenBank files in a folder</a:t>
            </a:r>
            <a:endParaRPr lang="en-US" sz="1200" dirty="0"/>
          </a:p>
        </p:txBody>
      </p:sp>
      <p:sp>
        <p:nvSpPr>
          <p:cNvPr id="10" name="Shape 8"/>
          <p:cNvSpPr/>
          <p:nvPr/>
        </p:nvSpPr>
        <p:spPr>
          <a:xfrm>
            <a:off x="365760" y="1444752"/>
            <a:ext cx="3986784" cy="1261872"/>
          </a:xfrm>
          <a:prstGeom prst="rect">
            <a:avLst/>
          </a:prstGeom>
          <a:solidFill>
            <a:srgbClr val="1A3D2A"/>
          </a:solidFill>
          <a:ln w="12700">
            <a:solidFill>
              <a:srgbClr val="1A3D2A"/>
            </a:solidFill>
            <a:prstDash val="solid"/>
          </a:ln>
        </p:spPr>
      </p:sp>
      <p:sp>
        <p:nvSpPr>
          <p:cNvPr id="11" name="Text 9"/>
          <p:cNvSpPr/>
          <p:nvPr/>
        </p:nvSpPr>
        <p:spPr>
          <a:xfrm>
            <a:off x="457200" y="1481328"/>
            <a:ext cx="3822192" cy="1188720"/>
          </a:xfrm>
          <a:prstGeom prst="rect">
            <a:avLst/>
          </a:prstGeom>
          <a:noFill/>
          <a:ln/>
        </p:spPr>
        <p:txBody>
          <a:bodyPr wrap="square" rtlCol="0" anchor="t"/>
          <a:lstStyle/>
          <a:p>
            <a:pPr indent="0" marL="0">
              <a:buNone/>
            </a:pPr>
            <a:r>
              <a:rPr lang="en-US" sz="1050" dirty="0">
                <a:solidFill>
                  <a:srgbClr val="5DDC8A"/>
                </a:solidFill>
                <a:latin typeface="Courier New" pitchFamily="34" charset="0"/>
                <a:ea typeface="Courier New" pitchFamily="34" charset="-122"/>
                <a:cs typeface="Courier New" pitchFamily="34" charset="-120"/>
              </a:rPr>
              <a:t>cd /home/user/amino_acid_analysis/genomes/</a:t>
            </a:r>
            <a:endParaRPr lang="en-US" sz="1050" dirty="0"/>
          </a:p>
          <a:p>
            <a:pPr indent="0" marL="0">
              <a:buNone/>
            </a:pPr>
            <a:r>
              <a:rPr lang="en-US" sz="1050" dirty="0">
                <a:solidFill>
                  <a:srgbClr val="5DDC8A"/>
                </a:solidFill>
                <a:latin typeface="Courier New" pitchFamily="34" charset="0"/>
                <a:ea typeface="Courier New" pitchFamily="34" charset="-122"/>
                <a:cs typeface="Courier New" pitchFamily="34" charset="-120"/>
              </a:rPr>
              <a:t>ls *.gb  # verify annotated files</a:t>
            </a:r>
            <a:endParaRPr lang="en-US" sz="1050" dirty="0"/>
          </a:p>
        </p:txBody>
      </p:sp>
      <p:sp>
        <p:nvSpPr>
          <p:cNvPr id="12" name="Shape 10"/>
          <p:cNvSpPr/>
          <p:nvPr/>
        </p:nvSpPr>
        <p:spPr>
          <a:xfrm>
            <a:off x="274320" y="2944368"/>
            <a:ext cx="4160520" cy="1901952"/>
          </a:xfrm>
          <a:prstGeom prst="rect">
            <a:avLst/>
          </a:prstGeom>
          <a:solidFill>
            <a:srgbClr val="E8F8EF"/>
          </a:solidFill>
          <a:ln w="12700">
            <a:solidFill>
              <a:srgbClr val="27AE60"/>
            </a:solidFill>
            <a:prstDash val="solid"/>
          </a:ln>
        </p:spPr>
      </p:sp>
      <p:sp>
        <p:nvSpPr>
          <p:cNvPr id="13" name="Shape 11"/>
          <p:cNvSpPr/>
          <p:nvPr/>
        </p:nvSpPr>
        <p:spPr>
          <a:xfrm>
            <a:off x="274320" y="2944368"/>
            <a:ext cx="4160520" cy="420624"/>
          </a:xfrm>
          <a:prstGeom prst="rect">
            <a:avLst/>
          </a:prstGeom>
          <a:solidFill>
            <a:srgbClr val="1A5C3A"/>
          </a:solidFill>
          <a:ln w="12700">
            <a:solidFill>
              <a:srgbClr val="1A5C3A"/>
            </a:solidFill>
            <a:prstDash val="solid"/>
          </a:ln>
        </p:spPr>
      </p:sp>
      <p:sp>
        <p:nvSpPr>
          <p:cNvPr id="14" name="Shape 12"/>
          <p:cNvSpPr/>
          <p:nvPr/>
        </p:nvSpPr>
        <p:spPr>
          <a:xfrm>
            <a:off x="365760" y="2999232"/>
            <a:ext cx="310896" cy="310896"/>
          </a:xfrm>
          <a:prstGeom prst="ellipse">
            <a:avLst/>
          </a:prstGeom>
          <a:solidFill>
            <a:srgbClr val="27AE60"/>
          </a:solidFill>
          <a:ln w="12700">
            <a:solidFill>
              <a:srgbClr val="27AE60"/>
            </a:solidFill>
            <a:prstDash val="solid"/>
          </a:ln>
        </p:spPr>
      </p:sp>
      <p:sp>
        <p:nvSpPr>
          <p:cNvPr id="15" name="Text 13"/>
          <p:cNvSpPr/>
          <p:nvPr/>
        </p:nvSpPr>
        <p:spPr>
          <a:xfrm>
            <a:off x="365760" y="2999232"/>
            <a:ext cx="310896" cy="310896"/>
          </a:xfrm>
          <a:prstGeom prst="rect">
            <a:avLst/>
          </a:prstGeom>
          <a:noFill/>
          <a:ln/>
        </p:spPr>
        <p:txBody>
          <a:bodyPr wrap="square" lIns="0" tIns="0" rIns="0" bIns="0" rtlCol="0" anchor="ctr"/>
          <a:lstStyle/>
          <a:p>
            <a:pPr algn="ctr" indent="0" marL="0">
              <a:buNone/>
            </a:pPr>
            <a:r>
              <a:rPr lang="en-US" sz="1100" b="1" dirty="0">
                <a:solidFill>
                  <a:srgbClr val="1A5C3A"/>
                </a:solidFill>
              </a:rPr>
              <a:t>2</a:t>
            </a:r>
            <a:endParaRPr lang="en-US" sz="1100" dirty="0"/>
          </a:p>
        </p:txBody>
      </p:sp>
      <p:sp>
        <p:nvSpPr>
          <p:cNvPr id="16" name="Text 14"/>
          <p:cNvSpPr/>
          <p:nvPr/>
        </p:nvSpPr>
        <p:spPr>
          <a:xfrm>
            <a:off x="768096" y="3008376"/>
            <a:ext cx="3547872" cy="301752"/>
          </a:xfrm>
          <a:prstGeom prst="rect">
            <a:avLst/>
          </a:prstGeom>
          <a:noFill/>
          <a:ln/>
        </p:spPr>
        <p:txBody>
          <a:bodyPr wrap="square" rtlCol="0" anchor="ctr"/>
          <a:lstStyle/>
          <a:p>
            <a:pPr indent="0" marL="0">
              <a:buNone/>
            </a:pPr>
            <a:r>
              <a:rPr lang="en-US" sz="1200" b="1" dirty="0">
                <a:solidFill>
                  <a:srgbClr val="FFFFFF"/>
                </a:solidFill>
              </a:rPr>
              <a:t>Run the analysis</a:t>
            </a:r>
            <a:endParaRPr lang="en-US" sz="1200" dirty="0"/>
          </a:p>
        </p:txBody>
      </p:sp>
      <p:sp>
        <p:nvSpPr>
          <p:cNvPr id="17" name="Shape 15"/>
          <p:cNvSpPr/>
          <p:nvPr/>
        </p:nvSpPr>
        <p:spPr>
          <a:xfrm>
            <a:off x="365760" y="3456432"/>
            <a:ext cx="3986784" cy="1261872"/>
          </a:xfrm>
          <a:prstGeom prst="rect">
            <a:avLst/>
          </a:prstGeom>
          <a:solidFill>
            <a:srgbClr val="1A3D2A"/>
          </a:solidFill>
          <a:ln w="12700">
            <a:solidFill>
              <a:srgbClr val="1A3D2A"/>
            </a:solidFill>
            <a:prstDash val="solid"/>
          </a:ln>
        </p:spPr>
      </p:sp>
      <p:sp>
        <p:nvSpPr>
          <p:cNvPr id="18" name="Text 16"/>
          <p:cNvSpPr/>
          <p:nvPr/>
        </p:nvSpPr>
        <p:spPr>
          <a:xfrm>
            <a:off x="457200" y="3493008"/>
            <a:ext cx="3822192" cy="1188720"/>
          </a:xfrm>
          <a:prstGeom prst="rect">
            <a:avLst/>
          </a:prstGeom>
          <a:noFill/>
          <a:ln/>
        </p:spPr>
        <p:txBody>
          <a:bodyPr wrap="square" rtlCol="0" anchor="t"/>
          <a:lstStyle/>
          <a:p>
            <a:pPr indent="0" marL="0">
              <a:buNone/>
            </a:pPr>
            <a:r>
              <a:rPr lang="en-US" sz="1050" dirty="0">
                <a:solidFill>
                  <a:srgbClr val="5DDC8A"/>
                </a:solidFill>
                <a:latin typeface="Courier New" pitchFamily="34" charset="0"/>
                <a:ea typeface="Courier New" pitchFamily="34" charset="-122"/>
                <a:cs typeface="Courier New" pitchFamily="34" charset="-120"/>
              </a:rPr>
              <a:t>python cgas_module9.py</a:t>
            </a:r>
            <a:endParaRPr lang="en-US" sz="1050" dirty="0"/>
          </a:p>
          <a:p>
            <a:pPr indent="0" marL="0">
              <a:buNone/>
            </a:pPr>
            <a:r>
              <a:rPr lang="en-US" sz="1050" dirty="0">
                <a:solidFill>
                  <a:srgbClr val="5DDC8A"/>
                </a:solidFill>
                <a:latin typeface="Courier New" pitchFamily="34" charset="0"/>
                <a:ea typeface="Courier New" pitchFamily="34" charset="-122"/>
                <a:cs typeface="Courier New" pitchFamily="34" charset="-120"/>
              </a:rPr>
              <a:t># Add --no-figures if R is not installed</a:t>
            </a:r>
            <a:endParaRPr lang="en-US" sz="1050" dirty="0"/>
          </a:p>
        </p:txBody>
      </p:sp>
      <p:sp>
        <p:nvSpPr>
          <p:cNvPr id="19" name="Shape 17"/>
          <p:cNvSpPr/>
          <p:nvPr/>
        </p:nvSpPr>
        <p:spPr>
          <a:xfrm>
            <a:off x="4754880" y="932688"/>
            <a:ext cx="4160520" cy="1901952"/>
          </a:xfrm>
          <a:prstGeom prst="rect">
            <a:avLst/>
          </a:prstGeom>
          <a:solidFill>
            <a:srgbClr val="E8F8EF"/>
          </a:solidFill>
          <a:ln w="12700">
            <a:solidFill>
              <a:srgbClr val="27AE60"/>
            </a:solidFill>
            <a:prstDash val="solid"/>
          </a:ln>
        </p:spPr>
      </p:sp>
      <p:sp>
        <p:nvSpPr>
          <p:cNvPr id="20" name="Shape 18"/>
          <p:cNvSpPr/>
          <p:nvPr/>
        </p:nvSpPr>
        <p:spPr>
          <a:xfrm>
            <a:off x="4754880" y="932688"/>
            <a:ext cx="4160520" cy="420624"/>
          </a:xfrm>
          <a:prstGeom prst="rect">
            <a:avLst/>
          </a:prstGeom>
          <a:solidFill>
            <a:srgbClr val="1A5C3A"/>
          </a:solidFill>
          <a:ln w="12700">
            <a:solidFill>
              <a:srgbClr val="1A5C3A"/>
            </a:solidFill>
            <a:prstDash val="solid"/>
          </a:ln>
        </p:spPr>
      </p:sp>
      <p:sp>
        <p:nvSpPr>
          <p:cNvPr id="21" name="Shape 19"/>
          <p:cNvSpPr/>
          <p:nvPr/>
        </p:nvSpPr>
        <p:spPr>
          <a:xfrm>
            <a:off x="4846320" y="987552"/>
            <a:ext cx="310896" cy="310896"/>
          </a:xfrm>
          <a:prstGeom prst="ellipse">
            <a:avLst/>
          </a:prstGeom>
          <a:solidFill>
            <a:srgbClr val="27AE60"/>
          </a:solidFill>
          <a:ln w="12700">
            <a:solidFill>
              <a:srgbClr val="27AE60"/>
            </a:solidFill>
            <a:prstDash val="solid"/>
          </a:ln>
        </p:spPr>
      </p:sp>
      <p:sp>
        <p:nvSpPr>
          <p:cNvPr id="22" name="Text 20"/>
          <p:cNvSpPr/>
          <p:nvPr/>
        </p:nvSpPr>
        <p:spPr>
          <a:xfrm>
            <a:off x="4846320" y="987552"/>
            <a:ext cx="310896" cy="310896"/>
          </a:xfrm>
          <a:prstGeom prst="rect">
            <a:avLst/>
          </a:prstGeom>
          <a:noFill/>
          <a:ln/>
        </p:spPr>
        <p:txBody>
          <a:bodyPr wrap="square" lIns="0" tIns="0" rIns="0" bIns="0" rtlCol="0" anchor="ctr"/>
          <a:lstStyle/>
          <a:p>
            <a:pPr algn="ctr" indent="0" marL="0">
              <a:buNone/>
            </a:pPr>
            <a:r>
              <a:rPr lang="en-US" sz="1100" b="1" dirty="0">
                <a:solidFill>
                  <a:srgbClr val="1A5C3A"/>
                </a:solidFill>
              </a:rPr>
              <a:t>3</a:t>
            </a:r>
            <a:endParaRPr lang="en-US" sz="1100" dirty="0"/>
          </a:p>
        </p:txBody>
      </p:sp>
      <p:sp>
        <p:nvSpPr>
          <p:cNvPr id="23" name="Text 21"/>
          <p:cNvSpPr/>
          <p:nvPr/>
        </p:nvSpPr>
        <p:spPr>
          <a:xfrm>
            <a:off x="5248656" y="996696"/>
            <a:ext cx="3547872" cy="301752"/>
          </a:xfrm>
          <a:prstGeom prst="rect">
            <a:avLst/>
          </a:prstGeom>
          <a:noFill/>
          <a:ln/>
        </p:spPr>
        <p:txBody>
          <a:bodyPr wrap="square" rtlCol="0" anchor="ctr"/>
          <a:lstStyle/>
          <a:p>
            <a:pPr indent="0" marL="0">
              <a:buNone/>
            </a:pPr>
            <a:r>
              <a:rPr lang="en-US" sz="1200" b="1" dirty="0">
                <a:solidFill>
                  <a:srgbClr val="FFFFFF"/>
                </a:solidFill>
              </a:rPr>
              <a:t>Open merged Excel comparison</a:t>
            </a:r>
            <a:endParaRPr lang="en-US" sz="1200" dirty="0"/>
          </a:p>
        </p:txBody>
      </p:sp>
      <p:sp>
        <p:nvSpPr>
          <p:cNvPr id="24" name="Shape 22"/>
          <p:cNvSpPr/>
          <p:nvPr/>
        </p:nvSpPr>
        <p:spPr>
          <a:xfrm>
            <a:off x="4846320" y="1444752"/>
            <a:ext cx="3986784" cy="1261872"/>
          </a:xfrm>
          <a:prstGeom prst="rect">
            <a:avLst/>
          </a:prstGeom>
          <a:solidFill>
            <a:srgbClr val="1A3D2A"/>
          </a:solidFill>
          <a:ln w="12700">
            <a:solidFill>
              <a:srgbClr val="1A3D2A"/>
            </a:solidFill>
            <a:prstDash val="solid"/>
          </a:ln>
        </p:spPr>
      </p:sp>
      <p:sp>
        <p:nvSpPr>
          <p:cNvPr id="25" name="Text 23"/>
          <p:cNvSpPr/>
          <p:nvPr/>
        </p:nvSpPr>
        <p:spPr>
          <a:xfrm>
            <a:off x="4937760" y="1481328"/>
            <a:ext cx="3822192" cy="1188720"/>
          </a:xfrm>
          <a:prstGeom prst="rect">
            <a:avLst/>
          </a:prstGeom>
          <a:noFill/>
          <a:ln/>
        </p:spPr>
        <p:txBody>
          <a:bodyPr wrap="square" rtlCol="0" anchor="t"/>
          <a:lstStyle/>
          <a:p>
            <a:pPr indent="0" marL="0">
              <a:buNone/>
            </a:pPr>
            <a:r>
              <a:rPr lang="en-US" sz="1050" dirty="0">
                <a:solidFill>
                  <a:srgbClr val="5DDC8A"/>
                </a:solidFill>
                <a:latin typeface="Courier New" pitchFamily="34" charset="0"/>
                <a:ea typeface="Courier New" pitchFamily="34" charset="-122"/>
                <a:cs typeface="Courier New" pitchFamily="34" charset="-120"/>
              </a:rPr>
              <a:t>open Module9_Amino_Acid_Analysis/</a:t>
            </a:r>
            <a:endParaRPr lang="en-US" sz="1050" dirty="0"/>
          </a:p>
          <a:p>
            <a:pPr indent="0" marL="0">
              <a:buNone/>
            </a:pPr>
            <a:r>
              <a:rPr lang="en-US" sz="1050" dirty="0">
                <a:solidFill>
                  <a:srgbClr val="5DDC8A"/>
                </a:solidFill>
                <a:latin typeface="Courier New" pitchFamily="34" charset="0"/>
                <a:ea typeface="Courier New" pitchFamily="34" charset="-122"/>
                <a:cs typeface="Courier New" pitchFamily="34" charset="-120"/>
              </a:rPr>
              <a:t>       Complete_Amino_Acid_Analysis.xlsx</a:t>
            </a:r>
            <a:endParaRPr lang="en-US" sz="1050" dirty="0"/>
          </a:p>
        </p:txBody>
      </p:sp>
      <p:sp>
        <p:nvSpPr>
          <p:cNvPr id="26" name="Shape 24"/>
          <p:cNvSpPr/>
          <p:nvPr/>
        </p:nvSpPr>
        <p:spPr>
          <a:xfrm>
            <a:off x="4754880" y="2944368"/>
            <a:ext cx="4160520" cy="1901952"/>
          </a:xfrm>
          <a:prstGeom prst="rect">
            <a:avLst/>
          </a:prstGeom>
          <a:solidFill>
            <a:srgbClr val="E8F8EF"/>
          </a:solidFill>
          <a:ln w="12700">
            <a:solidFill>
              <a:srgbClr val="27AE60"/>
            </a:solidFill>
            <a:prstDash val="solid"/>
          </a:ln>
        </p:spPr>
      </p:sp>
      <p:sp>
        <p:nvSpPr>
          <p:cNvPr id="27" name="Shape 25"/>
          <p:cNvSpPr/>
          <p:nvPr/>
        </p:nvSpPr>
        <p:spPr>
          <a:xfrm>
            <a:off x="4754880" y="2944368"/>
            <a:ext cx="4160520" cy="420624"/>
          </a:xfrm>
          <a:prstGeom prst="rect">
            <a:avLst/>
          </a:prstGeom>
          <a:solidFill>
            <a:srgbClr val="1A5C3A"/>
          </a:solidFill>
          <a:ln w="12700">
            <a:solidFill>
              <a:srgbClr val="1A5C3A"/>
            </a:solidFill>
            <a:prstDash val="solid"/>
          </a:ln>
        </p:spPr>
      </p:sp>
      <p:sp>
        <p:nvSpPr>
          <p:cNvPr id="28" name="Shape 26"/>
          <p:cNvSpPr/>
          <p:nvPr/>
        </p:nvSpPr>
        <p:spPr>
          <a:xfrm>
            <a:off x="4846320" y="2999232"/>
            <a:ext cx="310896" cy="310896"/>
          </a:xfrm>
          <a:prstGeom prst="ellipse">
            <a:avLst/>
          </a:prstGeom>
          <a:solidFill>
            <a:srgbClr val="27AE60"/>
          </a:solidFill>
          <a:ln w="12700">
            <a:solidFill>
              <a:srgbClr val="27AE60"/>
            </a:solidFill>
            <a:prstDash val="solid"/>
          </a:ln>
        </p:spPr>
      </p:sp>
      <p:sp>
        <p:nvSpPr>
          <p:cNvPr id="29" name="Text 27"/>
          <p:cNvSpPr/>
          <p:nvPr/>
        </p:nvSpPr>
        <p:spPr>
          <a:xfrm>
            <a:off x="4846320" y="2999232"/>
            <a:ext cx="310896" cy="310896"/>
          </a:xfrm>
          <a:prstGeom prst="rect">
            <a:avLst/>
          </a:prstGeom>
          <a:noFill/>
          <a:ln/>
        </p:spPr>
        <p:txBody>
          <a:bodyPr wrap="square" lIns="0" tIns="0" rIns="0" bIns="0" rtlCol="0" anchor="ctr"/>
          <a:lstStyle/>
          <a:p>
            <a:pPr algn="ctr" indent="0" marL="0">
              <a:buNone/>
            </a:pPr>
            <a:r>
              <a:rPr lang="en-US" sz="1100" b="1" dirty="0">
                <a:solidFill>
                  <a:srgbClr val="1A5C3A"/>
                </a:solidFill>
              </a:rPr>
              <a:t>4</a:t>
            </a:r>
            <a:endParaRPr lang="en-US" sz="1100" dirty="0"/>
          </a:p>
        </p:txBody>
      </p:sp>
      <p:sp>
        <p:nvSpPr>
          <p:cNvPr id="30" name="Text 28"/>
          <p:cNvSpPr/>
          <p:nvPr/>
        </p:nvSpPr>
        <p:spPr>
          <a:xfrm>
            <a:off x="5248656" y="3008376"/>
            <a:ext cx="3547872" cy="301752"/>
          </a:xfrm>
          <a:prstGeom prst="rect">
            <a:avLst/>
          </a:prstGeom>
          <a:noFill/>
          <a:ln/>
        </p:spPr>
        <p:txBody>
          <a:bodyPr wrap="square" rtlCol="0" anchor="ctr"/>
          <a:lstStyle/>
          <a:p>
            <a:pPr indent="0" marL="0">
              <a:buNone/>
            </a:pPr>
            <a:r>
              <a:rPr lang="en-US" sz="1200" b="1" dirty="0">
                <a:solidFill>
                  <a:srgbClr val="FFFFFF"/>
                </a:solidFill>
              </a:rPr>
              <a:t>View the R figures</a:t>
            </a:r>
            <a:endParaRPr lang="en-US" sz="1200" dirty="0"/>
          </a:p>
        </p:txBody>
      </p:sp>
      <p:sp>
        <p:nvSpPr>
          <p:cNvPr id="31" name="Shape 29"/>
          <p:cNvSpPr/>
          <p:nvPr/>
        </p:nvSpPr>
        <p:spPr>
          <a:xfrm>
            <a:off x="4846320" y="3456432"/>
            <a:ext cx="3986784" cy="1261872"/>
          </a:xfrm>
          <a:prstGeom prst="rect">
            <a:avLst/>
          </a:prstGeom>
          <a:solidFill>
            <a:srgbClr val="1A3D2A"/>
          </a:solidFill>
          <a:ln w="12700">
            <a:solidFill>
              <a:srgbClr val="1A3D2A"/>
            </a:solidFill>
            <a:prstDash val="solid"/>
          </a:ln>
        </p:spPr>
      </p:sp>
      <p:sp>
        <p:nvSpPr>
          <p:cNvPr id="32" name="Text 30"/>
          <p:cNvSpPr/>
          <p:nvPr/>
        </p:nvSpPr>
        <p:spPr>
          <a:xfrm>
            <a:off x="4937760" y="3493008"/>
            <a:ext cx="3822192" cy="1188720"/>
          </a:xfrm>
          <a:prstGeom prst="rect">
            <a:avLst/>
          </a:prstGeom>
          <a:noFill/>
          <a:ln/>
        </p:spPr>
        <p:txBody>
          <a:bodyPr wrap="square" rtlCol="0" anchor="t"/>
          <a:lstStyle/>
          <a:p>
            <a:pPr indent="0" marL="0">
              <a:buNone/>
            </a:pPr>
            <a:r>
              <a:rPr lang="en-US" sz="1050" dirty="0">
                <a:solidFill>
                  <a:srgbClr val="5DDC8A"/>
                </a:solidFill>
                <a:latin typeface="Courier New" pitchFamily="34" charset="0"/>
                <a:ea typeface="Courier New" pitchFamily="34" charset="-122"/>
                <a:cs typeface="Courier New" pitchFamily="34" charset="-120"/>
              </a:rPr>
              <a:t>open Module9_Amino_Acid_Analysis/Figures/</a:t>
            </a:r>
            <a:endParaRPr lang="en-US" sz="1050" dirty="0"/>
          </a:p>
          <a:p>
            <a:pPr indent="0" marL="0">
              <a:buNone/>
            </a:pPr>
            <a:r>
              <a:rPr lang="en-US" sz="1050" dirty="0">
                <a:solidFill>
                  <a:srgbClr val="5DDC8A"/>
                </a:solidFill>
                <a:latin typeface="Courier New" pitchFamily="34" charset="0"/>
                <a:ea typeface="Courier New" pitchFamily="34" charset="-122"/>
                <a:cs typeface="Courier New" pitchFamily="34" charset="-120"/>
              </a:rPr>
              <a:t>       AA_Composition_Heatmap.pdf</a:t>
            </a:r>
            <a:endParaRPr lang="en-US" sz="1050" dirty="0"/>
          </a:p>
          <a:p>
            <a:pPr indent="0" marL="0">
              <a:buNone/>
            </a:pPr>
            <a:r>
              <a:rPr lang="en-US" sz="1050" dirty="0">
                <a:solidFill>
                  <a:srgbClr val="5DDC8A"/>
                </a:solidFill>
                <a:latin typeface="Courier New" pitchFamily="34" charset="0"/>
                <a:ea typeface="Courier New" pitchFamily="34" charset="-122"/>
                <a:cs typeface="Courier New" pitchFamily="34" charset="-120"/>
              </a:rPr>
              <a:t>       Amino_Acid_Comparison.pdf</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Common Issues &amp; Quick Fixes</a:t>
            </a:r>
            <a:endParaRPr lang="en-US" sz="2400" dirty="0"/>
          </a:p>
        </p:txBody>
      </p:sp>
      <p:sp>
        <p:nvSpPr>
          <p:cNvPr id="5" name="Shape 3"/>
          <p:cNvSpPr/>
          <p:nvPr/>
        </p:nvSpPr>
        <p:spPr>
          <a:xfrm>
            <a:off x="274320" y="932688"/>
            <a:ext cx="8595360" cy="585216"/>
          </a:xfrm>
          <a:prstGeom prst="rect">
            <a:avLst/>
          </a:prstGeom>
          <a:solidFill>
            <a:srgbClr val="E8F8EF"/>
          </a:solidFill>
          <a:ln w="12700">
            <a:solidFill>
              <a:srgbClr val="E8F8EF"/>
            </a:solidFill>
            <a:prstDash val="solid"/>
          </a:ln>
        </p:spPr>
      </p:sp>
      <p:sp>
        <p:nvSpPr>
          <p:cNvPr id="6" name="Shape 4"/>
          <p:cNvSpPr/>
          <p:nvPr/>
        </p:nvSpPr>
        <p:spPr>
          <a:xfrm>
            <a:off x="274320" y="932688"/>
            <a:ext cx="73152" cy="585216"/>
          </a:xfrm>
          <a:prstGeom prst="rect">
            <a:avLst/>
          </a:prstGeom>
          <a:solidFill>
            <a:srgbClr val="27AE60"/>
          </a:solidFill>
          <a:ln w="12700">
            <a:solidFill>
              <a:srgbClr val="27AE60"/>
            </a:solidFill>
            <a:prstDash val="solid"/>
          </a:ln>
        </p:spPr>
      </p:sp>
      <p:sp>
        <p:nvSpPr>
          <p:cNvPr id="7" name="Text 5"/>
          <p:cNvSpPr/>
          <p:nvPr/>
        </p:nvSpPr>
        <p:spPr>
          <a:xfrm>
            <a:off x="438912" y="969264"/>
            <a:ext cx="8321040" cy="237744"/>
          </a:xfrm>
          <a:prstGeom prst="rect">
            <a:avLst/>
          </a:prstGeom>
          <a:noFill/>
          <a:ln/>
        </p:spPr>
        <p:txBody>
          <a:bodyPr wrap="square" rtlCol="0" anchor="ctr"/>
          <a:lstStyle/>
          <a:p>
            <a:pPr indent="0" marL="0">
              <a:buNone/>
            </a:pPr>
            <a:r>
              <a:rPr lang="en-US" sz="1200" b="1" dirty="0">
                <a:solidFill>
                  <a:srgbClr val="1A5C3A"/>
                </a:solidFill>
              </a:rPr>
              <a:t>Q: Missing packages</a:t>
            </a:r>
            <a:endParaRPr lang="en-US" sz="1200" dirty="0"/>
          </a:p>
        </p:txBody>
      </p:sp>
      <p:sp>
        <p:nvSpPr>
          <p:cNvPr id="8" name="Text 6"/>
          <p:cNvSpPr/>
          <p:nvPr/>
        </p:nvSpPr>
        <p:spPr>
          <a:xfrm>
            <a:off x="438912" y="1234440"/>
            <a:ext cx="8321040" cy="219456"/>
          </a:xfrm>
          <a:prstGeom prst="rect">
            <a:avLst/>
          </a:prstGeom>
          <a:noFill/>
          <a:ln/>
        </p:spPr>
        <p:txBody>
          <a:bodyPr wrap="square" rtlCol="0" anchor="ctr"/>
          <a:lstStyle/>
          <a:p>
            <a:pPr indent="0" marL="0">
              <a:buNone/>
            </a:pPr>
            <a:r>
              <a:rPr lang="en-US" sz="1150" dirty="0">
                <a:solidFill>
                  <a:srgbClr val="4A6B55"/>
                </a:solidFill>
              </a:rPr>
              <a:t>→ pip install biopython pandas openpyxl — R packages: ggplot2, reshape2, scales</a:t>
            </a:r>
            <a:endParaRPr lang="en-US" sz="1150" dirty="0"/>
          </a:p>
        </p:txBody>
      </p:sp>
      <p:sp>
        <p:nvSpPr>
          <p:cNvPr id="9" name="Shape 7"/>
          <p:cNvSpPr/>
          <p:nvPr/>
        </p:nvSpPr>
        <p:spPr>
          <a:xfrm>
            <a:off x="274320" y="1609344"/>
            <a:ext cx="8595360" cy="585216"/>
          </a:xfrm>
          <a:prstGeom prst="rect">
            <a:avLst/>
          </a:prstGeom>
          <a:solidFill>
            <a:srgbClr val="E8F8EF"/>
          </a:solidFill>
          <a:ln w="12700">
            <a:solidFill>
              <a:srgbClr val="E8F8EF"/>
            </a:solidFill>
            <a:prstDash val="solid"/>
          </a:ln>
        </p:spPr>
      </p:sp>
      <p:sp>
        <p:nvSpPr>
          <p:cNvPr id="10" name="Shape 8"/>
          <p:cNvSpPr/>
          <p:nvPr/>
        </p:nvSpPr>
        <p:spPr>
          <a:xfrm>
            <a:off x="274320" y="1609344"/>
            <a:ext cx="73152" cy="585216"/>
          </a:xfrm>
          <a:prstGeom prst="rect">
            <a:avLst/>
          </a:prstGeom>
          <a:solidFill>
            <a:srgbClr val="27AE60"/>
          </a:solidFill>
          <a:ln w="12700">
            <a:solidFill>
              <a:srgbClr val="27AE60"/>
            </a:solidFill>
            <a:prstDash val="solid"/>
          </a:ln>
        </p:spPr>
      </p:sp>
      <p:sp>
        <p:nvSpPr>
          <p:cNvPr id="11" name="Text 9"/>
          <p:cNvSpPr/>
          <p:nvPr/>
        </p:nvSpPr>
        <p:spPr>
          <a:xfrm>
            <a:off x="438912" y="1645920"/>
            <a:ext cx="8321040" cy="237744"/>
          </a:xfrm>
          <a:prstGeom prst="rect">
            <a:avLst/>
          </a:prstGeom>
          <a:noFill/>
          <a:ln/>
        </p:spPr>
        <p:txBody>
          <a:bodyPr wrap="square" rtlCol="0" anchor="ctr"/>
          <a:lstStyle/>
          <a:p>
            <a:pPr indent="0" marL="0">
              <a:buNone/>
            </a:pPr>
            <a:r>
              <a:rPr lang="en-US" sz="1200" b="1" dirty="0">
                <a:solidFill>
                  <a:srgbClr val="1A5C3A"/>
                </a:solidFill>
              </a:rPr>
              <a:t>Q: No GenBank files found</a:t>
            </a:r>
            <a:endParaRPr lang="en-US" sz="1200" dirty="0"/>
          </a:p>
        </p:txBody>
      </p:sp>
      <p:sp>
        <p:nvSpPr>
          <p:cNvPr id="12" name="Text 10"/>
          <p:cNvSpPr/>
          <p:nvPr/>
        </p:nvSpPr>
        <p:spPr>
          <a:xfrm>
            <a:off x="438912" y="1911096"/>
            <a:ext cx="8321040" cy="219456"/>
          </a:xfrm>
          <a:prstGeom prst="rect">
            <a:avLst/>
          </a:prstGeom>
          <a:noFill/>
          <a:ln/>
        </p:spPr>
        <p:txBody>
          <a:bodyPr wrap="square" rtlCol="0" anchor="ctr"/>
          <a:lstStyle/>
          <a:p>
            <a:pPr indent="0" marL="0">
              <a:buNone/>
            </a:pPr>
            <a:r>
              <a:rPr lang="en-US" sz="1150" dirty="0">
                <a:solidFill>
                  <a:srgbClr val="4A6B55"/>
                </a:solidFill>
              </a:rPr>
              <a:t>→ Check extensions: .gb .gbf .gbk .genbank — use -i /full/path/</a:t>
            </a:r>
            <a:endParaRPr lang="en-US" sz="1150" dirty="0"/>
          </a:p>
        </p:txBody>
      </p:sp>
      <p:sp>
        <p:nvSpPr>
          <p:cNvPr id="13" name="Shape 11"/>
          <p:cNvSpPr/>
          <p:nvPr/>
        </p:nvSpPr>
        <p:spPr>
          <a:xfrm>
            <a:off x="274320" y="2286000"/>
            <a:ext cx="8595360" cy="585216"/>
          </a:xfrm>
          <a:prstGeom prst="rect">
            <a:avLst/>
          </a:prstGeom>
          <a:solidFill>
            <a:srgbClr val="E8F8EF"/>
          </a:solidFill>
          <a:ln w="12700">
            <a:solidFill>
              <a:srgbClr val="E8F8EF"/>
            </a:solidFill>
            <a:prstDash val="solid"/>
          </a:ln>
        </p:spPr>
      </p:sp>
      <p:sp>
        <p:nvSpPr>
          <p:cNvPr id="14" name="Shape 12"/>
          <p:cNvSpPr/>
          <p:nvPr/>
        </p:nvSpPr>
        <p:spPr>
          <a:xfrm>
            <a:off x="274320" y="2286000"/>
            <a:ext cx="73152" cy="585216"/>
          </a:xfrm>
          <a:prstGeom prst="rect">
            <a:avLst/>
          </a:prstGeom>
          <a:solidFill>
            <a:srgbClr val="27AE60"/>
          </a:solidFill>
          <a:ln w="12700">
            <a:solidFill>
              <a:srgbClr val="27AE60"/>
            </a:solidFill>
            <a:prstDash val="solid"/>
          </a:ln>
        </p:spPr>
      </p:sp>
      <p:sp>
        <p:nvSpPr>
          <p:cNvPr id="15" name="Text 13"/>
          <p:cNvSpPr/>
          <p:nvPr/>
        </p:nvSpPr>
        <p:spPr>
          <a:xfrm>
            <a:off x="438912" y="2322576"/>
            <a:ext cx="8321040" cy="237744"/>
          </a:xfrm>
          <a:prstGeom prst="rect">
            <a:avLst/>
          </a:prstGeom>
          <a:noFill/>
          <a:ln/>
        </p:spPr>
        <p:txBody>
          <a:bodyPr wrap="square" rtlCol="0" anchor="ctr"/>
          <a:lstStyle/>
          <a:p>
            <a:pPr indent="0" marL="0">
              <a:buNone/>
            </a:pPr>
            <a:r>
              <a:rPr lang="en-US" sz="1200" b="1" dirty="0">
                <a:solidFill>
                  <a:srgbClr val="1A5C3A"/>
                </a:solidFill>
              </a:rPr>
              <a:t>Q: R not installed / figures not made</a:t>
            </a:r>
            <a:endParaRPr lang="en-US" sz="1200" dirty="0"/>
          </a:p>
        </p:txBody>
      </p:sp>
      <p:sp>
        <p:nvSpPr>
          <p:cNvPr id="16" name="Text 14"/>
          <p:cNvSpPr/>
          <p:nvPr/>
        </p:nvSpPr>
        <p:spPr>
          <a:xfrm>
            <a:off x="438912" y="2587752"/>
            <a:ext cx="8321040" cy="219456"/>
          </a:xfrm>
          <a:prstGeom prst="rect">
            <a:avLst/>
          </a:prstGeom>
          <a:noFill/>
          <a:ln/>
        </p:spPr>
        <p:txBody>
          <a:bodyPr wrap="square" rtlCol="0" anchor="ctr"/>
          <a:lstStyle/>
          <a:p>
            <a:pPr indent="0" marL="0">
              <a:buNone/>
            </a:pPr>
            <a:r>
              <a:rPr lang="en-US" sz="1150" dirty="0">
                <a:solidFill>
                  <a:srgbClr val="4A6B55"/>
                </a:solidFill>
              </a:rPr>
              <a:t>→ Use --no-figures flag — Excel analysis is complete without R</a:t>
            </a:r>
            <a:endParaRPr lang="en-US" sz="1150" dirty="0"/>
          </a:p>
        </p:txBody>
      </p:sp>
      <p:sp>
        <p:nvSpPr>
          <p:cNvPr id="17" name="Shape 15"/>
          <p:cNvSpPr/>
          <p:nvPr/>
        </p:nvSpPr>
        <p:spPr>
          <a:xfrm>
            <a:off x="274320" y="2962656"/>
            <a:ext cx="8595360" cy="585216"/>
          </a:xfrm>
          <a:prstGeom prst="rect">
            <a:avLst/>
          </a:prstGeom>
          <a:solidFill>
            <a:srgbClr val="E8F8EF"/>
          </a:solidFill>
          <a:ln w="12700">
            <a:solidFill>
              <a:srgbClr val="E8F8EF"/>
            </a:solidFill>
            <a:prstDash val="solid"/>
          </a:ln>
        </p:spPr>
      </p:sp>
      <p:sp>
        <p:nvSpPr>
          <p:cNvPr id="18" name="Shape 16"/>
          <p:cNvSpPr/>
          <p:nvPr/>
        </p:nvSpPr>
        <p:spPr>
          <a:xfrm>
            <a:off x="274320" y="2962656"/>
            <a:ext cx="73152" cy="585216"/>
          </a:xfrm>
          <a:prstGeom prst="rect">
            <a:avLst/>
          </a:prstGeom>
          <a:solidFill>
            <a:srgbClr val="27AE60"/>
          </a:solidFill>
          <a:ln w="12700">
            <a:solidFill>
              <a:srgbClr val="27AE60"/>
            </a:solidFill>
            <a:prstDash val="solid"/>
          </a:ln>
        </p:spPr>
      </p:sp>
      <p:sp>
        <p:nvSpPr>
          <p:cNvPr id="19" name="Text 17"/>
          <p:cNvSpPr/>
          <p:nvPr/>
        </p:nvSpPr>
        <p:spPr>
          <a:xfrm>
            <a:off x="438912" y="2999232"/>
            <a:ext cx="8321040" cy="237744"/>
          </a:xfrm>
          <a:prstGeom prst="rect">
            <a:avLst/>
          </a:prstGeom>
          <a:noFill/>
          <a:ln/>
        </p:spPr>
        <p:txBody>
          <a:bodyPr wrap="square" rtlCol="0" anchor="ctr"/>
          <a:lstStyle/>
          <a:p>
            <a:pPr indent="0" marL="0">
              <a:buNone/>
            </a:pPr>
            <a:r>
              <a:rPr lang="en-US" sz="1200" b="1" dirty="0">
                <a:solidFill>
                  <a:srgbClr val="1A5C3A"/>
                </a:solidFill>
              </a:rPr>
              <a:t>Q: CDS features not found</a:t>
            </a:r>
            <a:endParaRPr lang="en-US" sz="1200" dirty="0"/>
          </a:p>
        </p:txBody>
      </p:sp>
      <p:sp>
        <p:nvSpPr>
          <p:cNvPr id="20" name="Text 18"/>
          <p:cNvSpPr/>
          <p:nvPr/>
        </p:nvSpPr>
        <p:spPr>
          <a:xfrm>
            <a:off x="438912" y="3264408"/>
            <a:ext cx="8321040" cy="219456"/>
          </a:xfrm>
          <a:prstGeom prst="rect">
            <a:avLst/>
          </a:prstGeom>
          <a:noFill/>
          <a:ln/>
        </p:spPr>
        <p:txBody>
          <a:bodyPr wrap="square" rtlCol="0" anchor="ctr"/>
          <a:lstStyle/>
          <a:p>
            <a:pPr indent="0" marL="0">
              <a:buNone/>
            </a:pPr>
            <a:r>
              <a:rPr lang="en-US" sz="1150" dirty="0">
                <a:solidFill>
                  <a:srgbClr val="4A6B55"/>
                </a:solidFill>
              </a:rPr>
              <a:t>→ Verify GenBank files have CDS annotations with /translation qualifiers</a:t>
            </a:r>
            <a:endParaRPr lang="en-US" sz="1150" dirty="0"/>
          </a:p>
        </p:txBody>
      </p:sp>
      <p:sp>
        <p:nvSpPr>
          <p:cNvPr id="21" name="Shape 19"/>
          <p:cNvSpPr/>
          <p:nvPr/>
        </p:nvSpPr>
        <p:spPr>
          <a:xfrm>
            <a:off x="274320" y="3639312"/>
            <a:ext cx="8595360" cy="585216"/>
          </a:xfrm>
          <a:prstGeom prst="rect">
            <a:avLst/>
          </a:prstGeom>
          <a:solidFill>
            <a:srgbClr val="E8F8EF"/>
          </a:solidFill>
          <a:ln w="12700">
            <a:solidFill>
              <a:srgbClr val="E8F8EF"/>
            </a:solidFill>
            <a:prstDash val="solid"/>
          </a:ln>
        </p:spPr>
      </p:sp>
      <p:sp>
        <p:nvSpPr>
          <p:cNvPr id="22" name="Shape 20"/>
          <p:cNvSpPr/>
          <p:nvPr/>
        </p:nvSpPr>
        <p:spPr>
          <a:xfrm>
            <a:off x="274320" y="3639312"/>
            <a:ext cx="73152" cy="585216"/>
          </a:xfrm>
          <a:prstGeom prst="rect">
            <a:avLst/>
          </a:prstGeom>
          <a:solidFill>
            <a:srgbClr val="27AE60"/>
          </a:solidFill>
          <a:ln w="12700">
            <a:solidFill>
              <a:srgbClr val="27AE60"/>
            </a:solidFill>
            <a:prstDash val="solid"/>
          </a:ln>
        </p:spPr>
      </p:sp>
      <p:sp>
        <p:nvSpPr>
          <p:cNvPr id="23" name="Text 21"/>
          <p:cNvSpPr/>
          <p:nvPr/>
        </p:nvSpPr>
        <p:spPr>
          <a:xfrm>
            <a:off x="438912" y="3675888"/>
            <a:ext cx="8321040" cy="237744"/>
          </a:xfrm>
          <a:prstGeom prst="rect">
            <a:avLst/>
          </a:prstGeom>
          <a:noFill/>
          <a:ln/>
        </p:spPr>
        <p:txBody>
          <a:bodyPr wrap="square" rtlCol="0" anchor="ctr"/>
          <a:lstStyle/>
          <a:p>
            <a:pPr indent="0" marL="0">
              <a:buNone/>
            </a:pPr>
            <a:r>
              <a:rPr lang="en-US" sz="1200" b="1" dirty="0">
                <a:solidFill>
                  <a:srgbClr val="1A5C3A"/>
                </a:solidFill>
              </a:rPr>
              <a:t>Q: Unusual amino acid percentages</a:t>
            </a:r>
            <a:endParaRPr lang="en-US" sz="1200" dirty="0"/>
          </a:p>
        </p:txBody>
      </p:sp>
      <p:sp>
        <p:nvSpPr>
          <p:cNvPr id="24" name="Text 22"/>
          <p:cNvSpPr/>
          <p:nvPr/>
        </p:nvSpPr>
        <p:spPr>
          <a:xfrm>
            <a:off x="438912" y="3941064"/>
            <a:ext cx="8321040" cy="219456"/>
          </a:xfrm>
          <a:prstGeom prst="rect">
            <a:avLst/>
          </a:prstGeom>
          <a:noFill/>
          <a:ln/>
        </p:spPr>
        <p:txBody>
          <a:bodyPr wrap="square" rtlCol="0" anchor="ctr"/>
          <a:lstStyle/>
          <a:p>
            <a:pPr indent="0" marL="0">
              <a:buNone/>
            </a:pPr>
            <a:r>
              <a:rPr lang="en-US" sz="1150" dirty="0">
                <a:solidFill>
                  <a:srgbClr val="4A6B55"/>
                </a:solidFill>
              </a:rPr>
              <a:t>→ Check for pseudogenes, frameshifts, or very short CDS sequences in annotations</a:t>
            </a:r>
            <a:endParaRPr lang="en-US" sz="1150" dirty="0"/>
          </a:p>
        </p:txBody>
      </p:sp>
      <p:sp>
        <p:nvSpPr>
          <p:cNvPr id="25" name="Shape 23"/>
          <p:cNvSpPr/>
          <p:nvPr/>
        </p:nvSpPr>
        <p:spPr>
          <a:xfrm>
            <a:off x="274320" y="4315968"/>
            <a:ext cx="8595360" cy="585216"/>
          </a:xfrm>
          <a:prstGeom prst="rect">
            <a:avLst/>
          </a:prstGeom>
          <a:solidFill>
            <a:srgbClr val="E8F8EF"/>
          </a:solidFill>
          <a:ln w="12700">
            <a:solidFill>
              <a:srgbClr val="E8F8EF"/>
            </a:solidFill>
            <a:prstDash val="solid"/>
          </a:ln>
        </p:spPr>
      </p:sp>
      <p:sp>
        <p:nvSpPr>
          <p:cNvPr id="26" name="Shape 24"/>
          <p:cNvSpPr/>
          <p:nvPr/>
        </p:nvSpPr>
        <p:spPr>
          <a:xfrm>
            <a:off x="274320" y="4315968"/>
            <a:ext cx="73152" cy="585216"/>
          </a:xfrm>
          <a:prstGeom prst="rect">
            <a:avLst/>
          </a:prstGeom>
          <a:solidFill>
            <a:srgbClr val="27AE60"/>
          </a:solidFill>
          <a:ln w="12700">
            <a:solidFill>
              <a:srgbClr val="27AE60"/>
            </a:solidFill>
            <a:prstDash val="solid"/>
          </a:ln>
        </p:spPr>
      </p:sp>
      <p:sp>
        <p:nvSpPr>
          <p:cNvPr id="27" name="Text 25"/>
          <p:cNvSpPr/>
          <p:nvPr/>
        </p:nvSpPr>
        <p:spPr>
          <a:xfrm>
            <a:off x="438912" y="4352544"/>
            <a:ext cx="8321040" cy="237744"/>
          </a:xfrm>
          <a:prstGeom prst="rect">
            <a:avLst/>
          </a:prstGeom>
          <a:noFill/>
          <a:ln/>
        </p:spPr>
        <p:txBody>
          <a:bodyPr wrap="square" rtlCol="0" anchor="ctr"/>
          <a:lstStyle/>
          <a:p>
            <a:pPr indent="0" marL="0">
              <a:buNone/>
            </a:pPr>
            <a:r>
              <a:rPr lang="en-US" sz="1200" b="1" dirty="0">
                <a:solidFill>
                  <a:srgbClr val="1A5C3A"/>
                </a:solidFill>
              </a:rPr>
              <a:t>Q: Merged analysis shows blank cells</a:t>
            </a:r>
            <a:endParaRPr lang="en-US" sz="1200" dirty="0"/>
          </a:p>
        </p:txBody>
      </p:sp>
      <p:sp>
        <p:nvSpPr>
          <p:cNvPr id="28" name="Text 26"/>
          <p:cNvSpPr/>
          <p:nvPr/>
        </p:nvSpPr>
        <p:spPr>
          <a:xfrm>
            <a:off x="438912" y="4617720"/>
            <a:ext cx="8321040" cy="219456"/>
          </a:xfrm>
          <a:prstGeom prst="rect">
            <a:avLst/>
          </a:prstGeom>
          <a:noFill/>
          <a:ln/>
        </p:spPr>
        <p:txBody>
          <a:bodyPr wrap="square" rtlCol="0" anchor="ctr"/>
          <a:lstStyle/>
          <a:p>
            <a:pPr indent="0" marL="0">
              <a:buNone/>
            </a:pPr>
            <a:r>
              <a:rPr lang="en-US" sz="1150" dirty="0">
                <a:solidFill>
                  <a:srgbClr val="4A6B55"/>
                </a:solidFill>
              </a:rPr>
              <a:t>→ Check that all files successfully parsed — open individual Excel files to verify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1A5C3A"/>
          </a:solidFill>
          <a:ln w="12700">
            <a:solidFill>
              <a:srgbClr val="1A5C3A"/>
            </a:solidFill>
            <a:prstDash val="solid"/>
          </a:ln>
        </p:spPr>
      </p:sp>
      <p:sp>
        <p:nvSpPr>
          <p:cNvPr id="3" name="Shape 1"/>
          <p:cNvSpPr/>
          <p:nvPr/>
        </p:nvSpPr>
        <p:spPr>
          <a:xfrm>
            <a:off x="0" y="0"/>
            <a:ext cx="201168" cy="822960"/>
          </a:xfrm>
          <a:prstGeom prst="rect">
            <a:avLst/>
          </a:prstGeom>
          <a:solidFill>
            <a:srgbClr val="27AE60"/>
          </a:solidFill>
          <a:ln w="12700">
            <a:solidFill>
              <a:srgbClr val="27AE60"/>
            </a:solidFill>
            <a:prstDash val="solid"/>
          </a:ln>
        </p:spPr>
      </p:sp>
      <p:sp>
        <p:nvSpPr>
          <p:cNvPr id="4" name="Text 2"/>
          <p:cNvSpPr/>
          <p:nvPr/>
        </p:nvSpPr>
        <p:spPr>
          <a:xfrm>
            <a:off x="347472" y="0"/>
            <a:ext cx="8412480" cy="822960"/>
          </a:xfrm>
          <a:prstGeom prst="rect">
            <a:avLst/>
          </a:prstGeom>
          <a:noFill/>
          <a:ln/>
        </p:spPr>
        <p:txBody>
          <a:bodyPr wrap="square" lIns="0" tIns="0" rIns="0" bIns="0" rtlCol="0" anchor="ctr"/>
          <a:lstStyle/>
          <a:p>
            <a:pPr indent="0" marL="0">
              <a:buNone/>
            </a:pPr>
            <a:r>
              <a:rPr lang="en-US" sz="2400" b="1" dirty="0">
                <a:solidFill>
                  <a:srgbClr val="FFFFFF"/>
                </a:solidFill>
              </a:rPr>
              <a:t>Module 9 — Key Takeaways</a:t>
            </a:r>
            <a:endParaRPr lang="en-US" sz="2400" dirty="0"/>
          </a:p>
        </p:txBody>
      </p:sp>
      <p:sp>
        <p:nvSpPr>
          <p:cNvPr id="5" name="Shape 3"/>
          <p:cNvSpPr/>
          <p:nvPr/>
        </p:nvSpPr>
        <p:spPr>
          <a:xfrm>
            <a:off x="0" y="0"/>
            <a:ext cx="9144000" cy="2011680"/>
          </a:xfrm>
          <a:prstGeom prst="rect">
            <a:avLst/>
          </a:prstGeom>
          <a:solidFill>
            <a:srgbClr val="1A5C3A"/>
          </a:solidFill>
          <a:ln w="12700">
            <a:solidFill>
              <a:srgbClr val="1A5C3A"/>
            </a:solidFill>
            <a:prstDash val="solid"/>
          </a:ln>
        </p:spPr>
      </p:sp>
      <p:sp>
        <p:nvSpPr>
          <p:cNvPr id="6" name="Shape 4"/>
          <p:cNvSpPr/>
          <p:nvPr/>
        </p:nvSpPr>
        <p:spPr>
          <a:xfrm>
            <a:off x="0" y="0"/>
            <a:ext cx="201168" cy="2011680"/>
          </a:xfrm>
          <a:prstGeom prst="rect">
            <a:avLst/>
          </a:prstGeom>
          <a:solidFill>
            <a:srgbClr val="27AE60"/>
          </a:solidFill>
          <a:ln w="12700">
            <a:solidFill>
              <a:srgbClr val="27AE60"/>
            </a:solidFill>
            <a:prstDash val="solid"/>
          </a:ln>
        </p:spPr>
      </p:sp>
      <p:sp>
        <p:nvSpPr>
          <p:cNvPr id="7" name="Shape 5"/>
          <p:cNvSpPr/>
          <p:nvPr/>
        </p:nvSpPr>
        <p:spPr>
          <a:xfrm>
            <a:off x="6858000" y="-822960"/>
            <a:ext cx="3200400" cy="3200400"/>
          </a:xfrm>
          <a:prstGeom prst="ellipse">
            <a:avLst/>
          </a:prstGeom>
          <a:solidFill>
            <a:srgbClr val="1E6B42"/>
          </a:solidFill>
          <a:ln w="12700">
            <a:solidFill>
              <a:srgbClr val="1E6B42"/>
            </a:solidFill>
            <a:prstDash val="solid"/>
          </a:ln>
        </p:spPr>
      </p:sp>
      <p:sp>
        <p:nvSpPr>
          <p:cNvPr id="8" name="Shape 6"/>
          <p:cNvSpPr/>
          <p:nvPr/>
        </p:nvSpPr>
        <p:spPr>
          <a:xfrm>
            <a:off x="7498080" y="-182880"/>
            <a:ext cx="1920240" cy="1920240"/>
          </a:xfrm>
          <a:prstGeom prst="ellipse">
            <a:avLst/>
          </a:prstGeom>
          <a:solidFill>
            <a:srgbClr val="1A5C3A"/>
          </a:solidFill>
          <a:ln w="25400">
            <a:solidFill>
              <a:srgbClr val="27AE60"/>
            </a:solidFill>
            <a:prstDash val="solid"/>
          </a:ln>
        </p:spPr>
      </p:sp>
      <p:sp>
        <p:nvSpPr>
          <p:cNvPr id="9" name="Text 7"/>
          <p:cNvSpPr/>
          <p:nvPr/>
        </p:nvSpPr>
        <p:spPr>
          <a:xfrm>
            <a:off x="7543800" y="91440"/>
            <a:ext cx="1828800" cy="1463040"/>
          </a:xfrm>
          <a:prstGeom prst="rect">
            <a:avLst/>
          </a:prstGeom>
          <a:noFill/>
          <a:ln/>
        </p:spPr>
        <p:txBody>
          <a:bodyPr wrap="square" rtlCol="0" anchor="ctr"/>
          <a:lstStyle/>
          <a:p>
            <a:pPr algn="ctr" indent="0" marL="0">
              <a:buNone/>
            </a:pPr>
            <a:r>
              <a:rPr lang="en-US" sz="4800" dirty="0">
                <a:solidFill>
                  <a:srgbClr val="000000"/>
                </a:solidFill>
              </a:rPr>
              <a:t>🧬</a:t>
            </a:r>
            <a:endParaRPr lang="en-US" sz="4800" dirty="0"/>
          </a:p>
        </p:txBody>
      </p:sp>
      <p:sp>
        <p:nvSpPr>
          <p:cNvPr id="10" name="Text 8"/>
          <p:cNvSpPr/>
          <p:nvPr/>
        </p:nvSpPr>
        <p:spPr>
          <a:xfrm>
            <a:off x="347472" y="320040"/>
            <a:ext cx="6400800" cy="475488"/>
          </a:xfrm>
          <a:prstGeom prst="rect">
            <a:avLst/>
          </a:prstGeom>
          <a:noFill/>
          <a:ln/>
        </p:spPr>
        <p:txBody>
          <a:bodyPr wrap="square" rtlCol="0" anchor="ctr"/>
          <a:lstStyle/>
          <a:p>
            <a:pPr indent="0" marL="0">
              <a:buNone/>
            </a:pPr>
            <a:r>
              <a:rPr lang="en-US" sz="2000" b="1" dirty="0">
                <a:solidFill>
                  <a:srgbClr val="FFFFFF"/>
                </a:solidFill>
              </a:rPr>
              <a:t>Module 9 — Key Takeaways</a:t>
            </a:r>
            <a:endParaRPr lang="en-US" sz="2000" dirty="0"/>
          </a:p>
        </p:txBody>
      </p:sp>
      <p:sp>
        <p:nvSpPr>
          <p:cNvPr id="11" name="Text 9"/>
          <p:cNvSpPr/>
          <p:nvPr/>
        </p:nvSpPr>
        <p:spPr>
          <a:xfrm>
            <a:off x="347472" y="804672"/>
            <a:ext cx="6400800" cy="347472"/>
          </a:xfrm>
          <a:prstGeom prst="rect">
            <a:avLst/>
          </a:prstGeom>
          <a:noFill/>
          <a:ln/>
        </p:spPr>
        <p:txBody>
          <a:bodyPr wrap="square" rtlCol="0" anchor="ctr"/>
          <a:lstStyle/>
          <a:p>
            <a:pPr indent="0" marL="0">
              <a:buNone/>
            </a:pPr>
            <a:r>
              <a:rPr lang="en-US" sz="1300" dirty="0">
                <a:solidFill>
                  <a:srgbClr val="A8D5BE"/>
                </a:solidFill>
              </a:rPr>
              <a:t>Comprehensive Amino Acid Analysis with R Visualization</a:t>
            </a:r>
            <a:endParaRPr lang="en-US" sz="1300" dirty="0"/>
          </a:p>
        </p:txBody>
      </p:sp>
      <p:sp>
        <p:nvSpPr>
          <p:cNvPr id="12" name="Shape 10"/>
          <p:cNvSpPr/>
          <p:nvPr/>
        </p:nvSpPr>
        <p:spPr>
          <a:xfrm>
            <a:off x="274320" y="2148840"/>
            <a:ext cx="8595360" cy="420624"/>
          </a:xfrm>
          <a:prstGeom prst="rect">
            <a:avLst/>
          </a:prstGeom>
          <a:solidFill>
            <a:srgbClr val="E8F8EF"/>
          </a:solidFill>
          <a:ln w="12700">
            <a:solidFill>
              <a:srgbClr val="E8F8EF"/>
            </a:solidFill>
            <a:prstDash val="solid"/>
          </a:ln>
        </p:spPr>
      </p:sp>
      <p:sp>
        <p:nvSpPr>
          <p:cNvPr id="13" name="Shape 11"/>
          <p:cNvSpPr/>
          <p:nvPr/>
        </p:nvSpPr>
        <p:spPr>
          <a:xfrm>
            <a:off x="274320" y="2148840"/>
            <a:ext cx="73152" cy="420624"/>
          </a:xfrm>
          <a:prstGeom prst="rect">
            <a:avLst/>
          </a:prstGeom>
          <a:solidFill>
            <a:srgbClr val="27AE60"/>
          </a:solidFill>
          <a:ln w="12700">
            <a:solidFill>
              <a:srgbClr val="27AE60"/>
            </a:solidFill>
            <a:prstDash val="solid"/>
          </a:ln>
        </p:spPr>
      </p:sp>
      <p:sp>
        <p:nvSpPr>
          <p:cNvPr id="14" name="Text 12"/>
          <p:cNvSpPr/>
          <p:nvPr/>
        </p:nvSpPr>
        <p:spPr>
          <a:xfrm>
            <a:off x="438912" y="2231136"/>
            <a:ext cx="1920240" cy="256032"/>
          </a:xfrm>
          <a:prstGeom prst="rect">
            <a:avLst/>
          </a:prstGeom>
          <a:noFill/>
          <a:ln/>
        </p:spPr>
        <p:txBody>
          <a:bodyPr wrap="square" rtlCol="0" anchor="ctr"/>
          <a:lstStyle/>
          <a:p>
            <a:pPr indent="0" marL="0">
              <a:buNone/>
            </a:pPr>
            <a:r>
              <a:rPr lang="en-US" sz="1200" b="1" dirty="0">
                <a:solidFill>
                  <a:srgbClr val="1A5C3A"/>
                </a:solidFill>
              </a:rPr>
              <a:t>No arguments needed:</a:t>
            </a:r>
            <a:endParaRPr lang="en-US" sz="1200" dirty="0"/>
          </a:p>
        </p:txBody>
      </p:sp>
      <p:sp>
        <p:nvSpPr>
          <p:cNvPr id="15" name="Text 13"/>
          <p:cNvSpPr/>
          <p:nvPr/>
        </p:nvSpPr>
        <p:spPr>
          <a:xfrm>
            <a:off x="2331720" y="2231136"/>
            <a:ext cx="6446520" cy="256032"/>
          </a:xfrm>
          <a:prstGeom prst="rect">
            <a:avLst/>
          </a:prstGeom>
          <a:noFill/>
          <a:ln/>
        </p:spPr>
        <p:txBody>
          <a:bodyPr wrap="square" rtlCol="0" anchor="ctr"/>
          <a:lstStyle/>
          <a:p>
            <a:pPr indent="0" marL="0">
              <a:buNone/>
            </a:pPr>
            <a:r>
              <a:rPr lang="en-US" sz="1200" dirty="0">
                <a:solidFill>
                  <a:srgbClr val="1C2B22"/>
                </a:solidFill>
              </a:rPr>
              <a:t>run python cgas_module9.py in the folder with your GenBank files</a:t>
            </a:r>
            <a:endParaRPr lang="en-US" sz="1200" dirty="0"/>
          </a:p>
        </p:txBody>
      </p:sp>
      <p:sp>
        <p:nvSpPr>
          <p:cNvPr id="16" name="Shape 14"/>
          <p:cNvSpPr/>
          <p:nvPr/>
        </p:nvSpPr>
        <p:spPr>
          <a:xfrm>
            <a:off x="274320" y="2642616"/>
            <a:ext cx="8595360" cy="420624"/>
          </a:xfrm>
          <a:prstGeom prst="rect">
            <a:avLst/>
          </a:prstGeom>
          <a:solidFill>
            <a:srgbClr val="E8F8EF"/>
          </a:solidFill>
          <a:ln w="12700">
            <a:solidFill>
              <a:srgbClr val="E8F8EF"/>
            </a:solidFill>
            <a:prstDash val="solid"/>
          </a:ln>
        </p:spPr>
      </p:sp>
      <p:sp>
        <p:nvSpPr>
          <p:cNvPr id="17" name="Shape 15"/>
          <p:cNvSpPr/>
          <p:nvPr/>
        </p:nvSpPr>
        <p:spPr>
          <a:xfrm>
            <a:off x="274320" y="2642616"/>
            <a:ext cx="73152" cy="420624"/>
          </a:xfrm>
          <a:prstGeom prst="rect">
            <a:avLst/>
          </a:prstGeom>
          <a:solidFill>
            <a:srgbClr val="27AE60"/>
          </a:solidFill>
          <a:ln w="12700">
            <a:solidFill>
              <a:srgbClr val="27AE60"/>
            </a:solidFill>
            <a:prstDash val="solid"/>
          </a:ln>
        </p:spPr>
      </p:sp>
      <p:sp>
        <p:nvSpPr>
          <p:cNvPr id="18" name="Text 16"/>
          <p:cNvSpPr/>
          <p:nvPr/>
        </p:nvSpPr>
        <p:spPr>
          <a:xfrm>
            <a:off x="438912" y="2724912"/>
            <a:ext cx="1920240" cy="256032"/>
          </a:xfrm>
          <a:prstGeom prst="rect">
            <a:avLst/>
          </a:prstGeom>
          <a:noFill/>
          <a:ln/>
        </p:spPr>
        <p:txBody>
          <a:bodyPr wrap="square" rtlCol="0" anchor="ctr"/>
          <a:lstStyle/>
          <a:p>
            <a:pPr indent="0" marL="0">
              <a:buNone/>
            </a:pPr>
            <a:r>
              <a:rPr lang="en-US" sz="1200" b="1" dirty="0">
                <a:solidFill>
                  <a:srgbClr val="1A5C3A"/>
                </a:solidFill>
              </a:rPr>
              <a:t>All 20 amino acids:</a:t>
            </a:r>
            <a:endParaRPr lang="en-US" sz="1200" dirty="0"/>
          </a:p>
        </p:txBody>
      </p:sp>
      <p:sp>
        <p:nvSpPr>
          <p:cNvPr id="19" name="Text 17"/>
          <p:cNvSpPr/>
          <p:nvPr/>
        </p:nvSpPr>
        <p:spPr>
          <a:xfrm>
            <a:off x="2331720" y="2724912"/>
            <a:ext cx="6446520" cy="256032"/>
          </a:xfrm>
          <a:prstGeom prst="rect">
            <a:avLst/>
          </a:prstGeom>
          <a:noFill/>
          <a:ln/>
        </p:spPr>
        <p:txBody>
          <a:bodyPr wrap="square" rtlCol="0" anchor="ctr"/>
          <a:lstStyle/>
          <a:p>
            <a:pPr indent="0" marL="0">
              <a:buNone/>
            </a:pPr>
            <a:r>
              <a:rPr lang="en-US" sz="1200" dirty="0">
                <a:solidFill>
                  <a:srgbClr val="1C2B22"/>
                </a:solidFill>
              </a:rPr>
              <a:t>A,R,N,D,C,Q,E,G,H,I,L,K,M,F,P,S,T,W,Y,V — % composition per genome</a:t>
            </a:r>
            <a:endParaRPr lang="en-US" sz="1200" dirty="0"/>
          </a:p>
        </p:txBody>
      </p:sp>
      <p:sp>
        <p:nvSpPr>
          <p:cNvPr id="20" name="Shape 18"/>
          <p:cNvSpPr/>
          <p:nvPr/>
        </p:nvSpPr>
        <p:spPr>
          <a:xfrm>
            <a:off x="274320" y="3136392"/>
            <a:ext cx="8595360" cy="420624"/>
          </a:xfrm>
          <a:prstGeom prst="rect">
            <a:avLst/>
          </a:prstGeom>
          <a:solidFill>
            <a:srgbClr val="E8F8EF"/>
          </a:solidFill>
          <a:ln w="12700">
            <a:solidFill>
              <a:srgbClr val="E8F8EF"/>
            </a:solidFill>
            <a:prstDash val="solid"/>
          </a:ln>
        </p:spPr>
      </p:sp>
      <p:sp>
        <p:nvSpPr>
          <p:cNvPr id="21" name="Shape 19"/>
          <p:cNvSpPr/>
          <p:nvPr/>
        </p:nvSpPr>
        <p:spPr>
          <a:xfrm>
            <a:off x="274320" y="3136392"/>
            <a:ext cx="73152" cy="420624"/>
          </a:xfrm>
          <a:prstGeom prst="rect">
            <a:avLst/>
          </a:prstGeom>
          <a:solidFill>
            <a:srgbClr val="27AE60"/>
          </a:solidFill>
          <a:ln w="12700">
            <a:solidFill>
              <a:srgbClr val="27AE60"/>
            </a:solidFill>
            <a:prstDash val="solid"/>
          </a:ln>
        </p:spPr>
      </p:sp>
      <p:sp>
        <p:nvSpPr>
          <p:cNvPr id="22" name="Text 20"/>
          <p:cNvSpPr/>
          <p:nvPr/>
        </p:nvSpPr>
        <p:spPr>
          <a:xfrm>
            <a:off x="438912" y="3218688"/>
            <a:ext cx="1920240" cy="256032"/>
          </a:xfrm>
          <a:prstGeom prst="rect">
            <a:avLst/>
          </a:prstGeom>
          <a:noFill/>
          <a:ln/>
        </p:spPr>
        <p:txBody>
          <a:bodyPr wrap="square" rtlCol="0" anchor="ctr"/>
          <a:lstStyle/>
          <a:p>
            <a:pPr indent="0" marL="0">
              <a:buNone/>
            </a:pPr>
            <a:r>
              <a:rPr lang="en-US" sz="1200" b="1" dirty="0">
                <a:solidFill>
                  <a:srgbClr val="1A5C3A"/>
                </a:solidFill>
              </a:rPr>
              <a:t>R optional:</a:t>
            </a:r>
            <a:endParaRPr lang="en-US" sz="1200" dirty="0"/>
          </a:p>
        </p:txBody>
      </p:sp>
      <p:sp>
        <p:nvSpPr>
          <p:cNvPr id="23" name="Text 21"/>
          <p:cNvSpPr/>
          <p:nvPr/>
        </p:nvSpPr>
        <p:spPr>
          <a:xfrm>
            <a:off x="2331720" y="3218688"/>
            <a:ext cx="6446520" cy="256032"/>
          </a:xfrm>
          <a:prstGeom prst="rect">
            <a:avLst/>
          </a:prstGeom>
          <a:noFill/>
          <a:ln/>
        </p:spPr>
        <p:txBody>
          <a:bodyPr wrap="square" rtlCol="0" anchor="ctr"/>
          <a:lstStyle/>
          <a:p>
            <a:pPr indent="0" marL="0">
              <a:buNone/>
            </a:pPr>
            <a:r>
              <a:rPr lang="en-US" sz="1200" dirty="0">
                <a:solidFill>
                  <a:srgbClr val="1C2B22"/>
                </a:solidFill>
              </a:rPr>
              <a:t>use --no-figures if R is not installed — Excel output is complete regardless</a:t>
            </a:r>
            <a:endParaRPr lang="en-US" sz="1200" dirty="0"/>
          </a:p>
        </p:txBody>
      </p:sp>
      <p:sp>
        <p:nvSpPr>
          <p:cNvPr id="24" name="Shape 22"/>
          <p:cNvSpPr/>
          <p:nvPr/>
        </p:nvSpPr>
        <p:spPr>
          <a:xfrm>
            <a:off x="274320" y="3630168"/>
            <a:ext cx="8595360" cy="420624"/>
          </a:xfrm>
          <a:prstGeom prst="rect">
            <a:avLst/>
          </a:prstGeom>
          <a:solidFill>
            <a:srgbClr val="E8F8EF"/>
          </a:solidFill>
          <a:ln w="12700">
            <a:solidFill>
              <a:srgbClr val="E8F8EF"/>
            </a:solidFill>
            <a:prstDash val="solid"/>
          </a:ln>
        </p:spPr>
      </p:sp>
      <p:sp>
        <p:nvSpPr>
          <p:cNvPr id="25" name="Shape 23"/>
          <p:cNvSpPr/>
          <p:nvPr/>
        </p:nvSpPr>
        <p:spPr>
          <a:xfrm>
            <a:off x="274320" y="3630168"/>
            <a:ext cx="73152" cy="420624"/>
          </a:xfrm>
          <a:prstGeom prst="rect">
            <a:avLst/>
          </a:prstGeom>
          <a:solidFill>
            <a:srgbClr val="27AE60"/>
          </a:solidFill>
          <a:ln w="12700">
            <a:solidFill>
              <a:srgbClr val="27AE60"/>
            </a:solidFill>
            <a:prstDash val="solid"/>
          </a:ln>
        </p:spPr>
      </p:sp>
      <p:sp>
        <p:nvSpPr>
          <p:cNvPr id="26" name="Text 24"/>
          <p:cNvSpPr/>
          <p:nvPr/>
        </p:nvSpPr>
        <p:spPr>
          <a:xfrm>
            <a:off x="438912" y="3712464"/>
            <a:ext cx="1920240" cy="256032"/>
          </a:xfrm>
          <a:prstGeom prst="rect">
            <a:avLst/>
          </a:prstGeom>
          <a:noFill/>
          <a:ln/>
        </p:spPr>
        <p:txBody>
          <a:bodyPr wrap="square" rtlCol="0" anchor="ctr"/>
          <a:lstStyle/>
          <a:p>
            <a:pPr indent="0" marL="0">
              <a:buNone/>
            </a:pPr>
            <a:r>
              <a:rPr lang="en-US" sz="1200" b="1" dirty="0">
                <a:solidFill>
                  <a:srgbClr val="1A5C3A"/>
                </a:solidFill>
              </a:rPr>
              <a:t>600 DPI figures:</a:t>
            </a:r>
            <a:endParaRPr lang="en-US" sz="1200" dirty="0"/>
          </a:p>
        </p:txBody>
      </p:sp>
      <p:sp>
        <p:nvSpPr>
          <p:cNvPr id="27" name="Text 25"/>
          <p:cNvSpPr/>
          <p:nvPr/>
        </p:nvSpPr>
        <p:spPr>
          <a:xfrm>
            <a:off x="2331720" y="3712464"/>
            <a:ext cx="6446520" cy="256032"/>
          </a:xfrm>
          <a:prstGeom prst="rect">
            <a:avLst/>
          </a:prstGeom>
          <a:noFill/>
          <a:ln/>
        </p:spPr>
        <p:txBody>
          <a:bodyPr wrap="square" rtlCol="0" anchor="ctr"/>
          <a:lstStyle/>
          <a:p>
            <a:pPr indent="0" marL="0">
              <a:buNone/>
            </a:pPr>
            <a:r>
              <a:rPr lang="en-US" sz="1200" dirty="0">
                <a:solidFill>
                  <a:srgbClr val="1C2B22"/>
                </a:solidFill>
              </a:rPr>
              <a:t>PDF (vector) + PNG (raster) — both publication-quality without further processing</a:t>
            </a:r>
            <a:endParaRPr lang="en-US" sz="1200" dirty="0"/>
          </a:p>
        </p:txBody>
      </p:sp>
      <p:sp>
        <p:nvSpPr>
          <p:cNvPr id="28" name="Shape 26"/>
          <p:cNvSpPr/>
          <p:nvPr/>
        </p:nvSpPr>
        <p:spPr>
          <a:xfrm>
            <a:off x="274320" y="4123944"/>
            <a:ext cx="8595360" cy="420624"/>
          </a:xfrm>
          <a:prstGeom prst="rect">
            <a:avLst/>
          </a:prstGeom>
          <a:solidFill>
            <a:srgbClr val="E8F8EF"/>
          </a:solidFill>
          <a:ln w="12700">
            <a:solidFill>
              <a:srgbClr val="E8F8EF"/>
            </a:solidFill>
            <a:prstDash val="solid"/>
          </a:ln>
        </p:spPr>
      </p:sp>
      <p:sp>
        <p:nvSpPr>
          <p:cNvPr id="29" name="Shape 27"/>
          <p:cNvSpPr/>
          <p:nvPr/>
        </p:nvSpPr>
        <p:spPr>
          <a:xfrm>
            <a:off x="274320" y="4123944"/>
            <a:ext cx="73152" cy="420624"/>
          </a:xfrm>
          <a:prstGeom prst="rect">
            <a:avLst/>
          </a:prstGeom>
          <a:solidFill>
            <a:srgbClr val="27AE60"/>
          </a:solidFill>
          <a:ln w="12700">
            <a:solidFill>
              <a:srgbClr val="27AE60"/>
            </a:solidFill>
            <a:prstDash val="solid"/>
          </a:ln>
        </p:spPr>
      </p:sp>
      <p:sp>
        <p:nvSpPr>
          <p:cNvPr id="30" name="Text 28"/>
          <p:cNvSpPr/>
          <p:nvPr/>
        </p:nvSpPr>
        <p:spPr>
          <a:xfrm>
            <a:off x="438912" y="4206240"/>
            <a:ext cx="1920240" cy="256032"/>
          </a:xfrm>
          <a:prstGeom prst="rect">
            <a:avLst/>
          </a:prstGeom>
          <a:noFill/>
          <a:ln/>
        </p:spPr>
        <p:txBody>
          <a:bodyPr wrap="square" rtlCol="0" anchor="ctr"/>
          <a:lstStyle/>
          <a:p>
            <a:pPr indent="0" marL="0">
              <a:buNone/>
            </a:pPr>
            <a:r>
              <a:rPr lang="en-US" sz="1200" b="1" dirty="0">
                <a:solidFill>
                  <a:srgbClr val="1A5C3A"/>
                </a:solidFill>
              </a:rPr>
              <a:t>Heatmap interpretation:</a:t>
            </a:r>
            <a:endParaRPr lang="en-US" sz="1200" dirty="0"/>
          </a:p>
        </p:txBody>
      </p:sp>
      <p:sp>
        <p:nvSpPr>
          <p:cNvPr id="31" name="Text 29"/>
          <p:cNvSpPr/>
          <p:nvPr/>
        </p:nvSpPr>
        <p:spPr>
          <a:xfrm>
            <a:off x="2331720" y="4206240"/>
            <a:ext cx="6446520" cy="256032"/>
          </a:xfrm>
          <a:prstGeom prst="rect">
            <a:avLst/>
          </a:prstGeom>
          <a:noFill/>
          <a:ln/>
        </p:spPr>
        <p:txBody>
          <a:bodyPr wrap="square" rtlCol="0" anchor="ctr"/>
          <a:lstStyle/>
          <a:p>
            <a:pPr indent="0" marL="0">
              <a:buNone/>
            </a:pPr>
            <a:r>
              <a:rPr lang="en-US" sz="1200" dirty="0">
                <a:solidFill>
                  <a:srgbClr val="1C2B22"/>
                </a:solidFill>
              </a:rPr>
              <a:t>rows = amino acids, columns = species — colour shows composition % at a glance</a:t>
            </a:r>
            <a:endParaRPr lang="en-US" sz="1200" dirty="0"/>
          </a:p>
        </p:txBody>
      </p:sp>
      <p:sp>
        <p:nvSpPr>
          <p:cNvPr id="32" name="Shape 30"/>
          <p:cNvSpPr/>
          <p:nvPr/>
        </p:nvSpPr>
        <p:spPr>
          <a:xfrm>
            <a:off x="274320" y="4617720"/>
            <a:ext cx="8595360" cy="420624"/>
          </a:xfrm>
          <a:prstGeom prst="rect">
            <a:avLst/>
          </a:prstGeom>
          <a:solidFill>
            <a:srgbClr val="E8F8EF"/>
          </a:solidFill>
          <a:ln w="12700">
            <a:solidFill>
              <a:srgbClr val="E8F8EF"/>
            </a:solidFill>
            <a:prstDash val="solid"/>
          </a:ln>
        </p:spPr>
      </p:sp>
      <p:sp>
        <p:nvSpPr>
          <p:cNvPr id="33" name="Shape 31"/>
          <p:cNvSpPr/>
          <p:nvPr/>
        </p:nvSpPr>
        <p:spPr>
          <a:xfrm>
            <a:off x="274320" y="4617720"/>
            <a:ext cx="73152" cy="420624"/>
          </a:xfrm>
          <a:prstGeom prst="rect">
            <a:avLst/>
          </a:prstGeom>
          <a:solidFill>
            <a:srgbClr val="27AE60"/>
          </a:solidFill>
          <a:ln w="12700">
            <a:solidFill>
              <a:srgbClr val="27AE60"/>
            </a:solidFill>
            <a:prstDash val="solid"/>
          </a:ln>
        </p:spPr>
      </p:sp>
      <p:sp>
        <p:nvSpPr>
          <p:cNvPr id="34" name="Text 32"/>
          <p:cNvSpPr/>
          <p:nvPr/>
        </p:nvSpPr>
        <p:spPr>
          <a:xfrm>
            <a:off x="438912" y="4700016"/>
            <a:ext cx="1920240" cy="256032"/>
          </a:xfrm>
          <a:prstGeom prst="rect">
            <a:avLst/>
          </a:prstGeom>
          <a:noFill/>
          <a:ln/>
        </p:spPr>
        <p:txBody>
          <a:bodyPr wrap="square" rtlCol="0" anchor="ctr"/>
          <a:lstStyle/>
          <a:p>
            <a:pPr indent="0" marL="0">
              <a:buNone/>
            </a:pPr>
            <a:r>
              <a:rPr lang="en-US" sz="1200" b="1" dirty="0">
                <a:solidFill>
                  <a:srgbClr val="1A5C3A"/>
                </a:solidFill>
              </a:rPr>
              <a:t>Cite CGAS:</a:t>
            </a:r>
            <a:endParaRPr lang="en-US" sz="1200" dirty="0"/>
          </a:p>
        </p:txBody>
      </p:sp>
      <p:sp>
        <p:nvSpPr>
          <p:cNvPr id="35" name="Text 33"/>
          <p:cNvSpPr/>
          <p:nvPr/>
        </p:nvSpPr>
        <p:spPr>
          <a:xfrm>
            <a:off x="2331720" y="4700016"/>
            <a:ext cx="6446520" cy="256032"/>
          </a:xfrm>
          <a:prstGeom prst="rect">
            <a:avLst/>
          </a:prstGeom>
          <a:noFill/>
          <a:ln/>
        </p:spPr>
        <p:txBody>
          <a:bodyPr wrap="square" rtlCol="0" anchor="ctr"/>
          <a:lstStyle/>
          <a:p>
            <a:pPr indent="0" marL="0">
              <a:buNone/>
            </a:pPr>
            <a:r>
              <a:rPr lang="en-US" sz="1200" dirty="0">
                <a:solidFill>
                  <a:srgbClr val="1C2B22"/>
                </a:solidFill>
              </a:rPr>
              <a:t>Abdullah A., Yan R., &amp; Tian X. (2025). bioRxiv. doi: 10.64898/2025.12.21.695765</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CGAS Module 9: Comprehensive Amino Acid
Analysis with R Visualization</dc:title>
  <dc:subject>PptxGenJS Presentation</dc:subject>
  <dc:creator>Abdullah</dc:creator>
  <cp:lastModifiedBy>Abdullah</cp:lastModifiedBy>
  <cp:revision>1</cp:revision>
  <dcterms:created xsi:type="dcterms:W3CDTF">2026-02-20T18:37:29Z</dcterms:created>
  <dcterms:modified xsi:type="dcterms:W3CDTF">2026-02-20T18:37:29Z</dcterms:modified>
</cp:coreProperties>
</file>