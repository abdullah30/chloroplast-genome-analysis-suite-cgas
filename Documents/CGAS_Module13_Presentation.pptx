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3200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1E6B42"/>
          </a:solidFill>
          <a:ln w="12700">
            <a:solidFill>
              <a:srgbClr val="1E6B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-365760"/>
            <a:ext cx="2011680" cy="2011680"/>
          </a:xfrm>
          <a:prstGeom prst="ellipse">
            <a:avLst/>
          </a:prstGeom>
          <a:solidFill>
            <a:srgbClr val="1A5C3A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74320"/>
            <a:ext cx="173736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743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3A"/>
                </a:solidFill>
              </a:rPr>
              <a:t>CGAS SUITE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777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1170432"/>
            <a:ext cx="6583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Nucleotide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Analysis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1148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π · genes · introns · intergenic spacers · MAFFT alignment · R plots.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C3A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1148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Region Types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C3A"/>
                </a:solidFill>
              </a:rPr>
              <a:t>π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1460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Diversity Metric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C3A"/>
                </a:solidFill>
              </a:rPr>
              <a:t>2+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1772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Min Species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C3A"/>
                </a:solidFill>
              </a:rPr>
              <a:t>600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2084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DPI Figures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Abdullah  ·  CGAS v1.0.1  ·  January 2026  ·  bioRxiv doi: 10.64898/2025.12.21.695765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is CGAS Module 13?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91440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2B22"/>
                </a:solidFill>
              </a:rPr>
              <a:t>Calculates nucleotide diversity (π) — the average number of nucleotide differences per site between any two sequences — for genes, introns, and intergenic spacers across all your chloroplast genomes using MAFFT for alignment and R for publication-quality visualisation.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27632"/>
            <a:ext cx="2743200" cy="2487168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27632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2763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π Calculation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2130552"/>
            <a:ext cx="2523744" cy="1865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Pairwise comparison across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all sequences per region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π = differences / (comparisons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× alignment length)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Rounded to 1 decimal place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Gaps &amp; ambiguous Ns handled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627632"/>
            <a:ext cx="2743200" cy="2487168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627632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62763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Three Region Types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55848" y="2130552"/>
            <a:ext cx="2523744" cy="1865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Genes (CDS): lower 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→ functional constraint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Introns: moderate 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→ less constrained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Intergenic spacers: higher 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→ least constrained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627632"/>
            <a:ext cx="2743200" cy="2487168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27632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62763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Special Features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27648" y="2130552"/>
            <a:ext cx="2523744" cy="1865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MAFFT alignment (required)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Gene synonym handling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Figures-only mode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--figures-only flag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Auto R package install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LSC/SSC/IR annotation on plot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0" y="4224528"/>
            <a:ext cx="9144000" cy="576072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224528"/>
            <a:ext cx="914400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2519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B55"/>
                </a:solidFill>
              </a:rPr>
              <a:t>Minimum 2 GenBank files required. MAFFT must be installed. R is optional for the diversity plot.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Quick Start — Three Ways to Run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① cgas command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8595360" cy="438912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984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cgas --module 13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801368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② shortcut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121408"/>
            <a:ext cx="8595360" cy="438912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13969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cgas-diversity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2642616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③ Python directly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962656"/>
            <a:ext cx="8595360" cy="438912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98094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cgas_module13.py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511296"/>
            <a:ext cx="8595360" cy="12618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547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Options: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3840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cgas_module13.py your_data_folder/  # Specify input (positional arg)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40965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cgas_module13.py data/ -o results/  # Custom output folder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35254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cgas_module13.py --figures-only     # Regenerate plots only (no reanalysis)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" y="460857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mafft --version                            # Verify MAFFT is installed first!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Understanding π — Nucleotide Diversity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3268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B55"/>
                </a:solidFill>
              </a:rPr>
              <a:t>π measures the average number of nucleotide differences per site when comparing any two sequences in your dataset.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8595360" cy="512064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38988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 =  Σ(pairwise differences)  /  (n_comparisons × alignment_length)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993392"/>
            <a:ext cx="8595360" cy="566928"/>
          </a:xfrm>
          <a:prstGeom prst="rect">
            <a:avLst/>
          </a:prstGeom>
          <a:solidFill>
            <a:srgbClr val="E8F8E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993392"/>
            <a:ext cx="1280160" cy="5669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08483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= 0.0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64208" y="2112264"/>
            <a:ext cx="7059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No variation — all sequences are identical for this region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651760"/>
            <a:ext cx="8595360" cy="566928"/>
          </a:xfrm>
          <a:prstGeom prst="rect">
            <a:avLst/>
          </a:prstGeom>
          <a:solidFill>
            <a:srgbClr val="E8F8EF"/>
          </a:solidFill>
          <a:ln w="25400">
            <a:solidFill>
              <a:srgbClr val="2471A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651760"/>
            <a:ext cx="1280160" cy="56692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7432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= 0.1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64208" y="2770632"/>
            <a:ext cx="7059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Low variation — 1 difference per 10 nucleotide sites (typical for conserved genes like rbcL)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310128"/>
            <a:ext cx="8595360" cy="566928"/>
          </a:xfrm>
          <a:prstGeom prst="rect">
            <a:avLst/>
          </a:prstGeom>
          <a:solidFill>
            <a:srgbClr val="E8F8E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310128"/>
            <a:ext cx="1280160" cy="5669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40156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= 1.0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64208" y="3429000"/>
            <a:ext cx="7059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Moderate variation — 1 difference per site on average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968496"/>
            <a:ext cx="8595360" cy="566928"/>
          </a:xfrm>
          <a:prstGeom prst="rect">
            <a:avLst/>
          </a:prstGeom>
          <a:solidFill>
            <a:srgbClr val="E8F8E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968496"/>
            <a:ext cx="128016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05993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= 2.0+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64208" y="4087368"/>
            <a:ext cx="7059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High variation — common in intergenic spacers like trnH-psbA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Output 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60520" cy="3858768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42416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Module13_Diversity_Analysis/
</a:t>
            </a:r>
            <a:pPr indent="0" marL="0">
              <a:buNone/>
            </a:pPr>
            <a:r>
              <a:rPr lang="en-US" sz="110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nucleotide_diversity_results.txt
</a:t>
            </a:r>
            <a:pPr indent="0" marL="0">
              <a:buNone/>
            </a:pPr>
            <a:r>
              <a:rPr lang="en-US" sz="110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nucleotide_diversity_by_position.txt
</a:t>
            </a:r>
            <a:pPr indent="0" marL="0">
              <a:buNone/>
            </a:pPr>
            <a:r>
              <a:rPr lang="en-US" sz="110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genes_for_R_plot.txt
</a:t>
            </a:r>
            <a:pPr indent="0" marL="0">
              <a:buNone/>
            </a:pPr>
            <a:r>
              <a:rPr lang="en-US" sz="110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noncoding_for_R_plot.txt
</a:t>
            </a:r>
            <a:pPr indent="0" marL="0">
              <a:buNone/>
            </a:pPr>
            <a:r>
              <a:rPr lang="en-US" sz="11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genes/      </a:t>
            </a:r>
            <a:pPr indent="0" marL="0">
              <a:buNone/>
            </a:pPr>
            <a:r>
              <a:rPr lang="en-US" sz="110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extracted FASTA
</a:t>
            </a:r>
            <a:pPr indent="0" marL="0">
              <a:buNone/>
            </a:pPr>
            <a:r>
              <a:rPr lang="en-US" sz="11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introns/    </a:t>
            </a:r>
            <a:pPr indent="0" marL="0">
              <a:buNone/>
            </a:pPr>
            <a:r>
              <a:rPr lang="en-US" sz="110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extracted FASTA
</a:t>
            </a:r>
            <a:pPr indent="0" marL="0">
              <a:buNone/>
            </a:pPr>
            <a:r>
              <a:rPr lang="en-US" sz="11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intergenic/ </a:t>
            </a:r>
            <a:pPr indent="0" marL="0">
              <a:buNone/>
            </a:pPr>
            <a:r>
              <a:rPr lang="en-US" sz="110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extracted FASTA
</a:t>
            </a:r>
            <a:pPr indent="0" marL="0">
              <a:buNone/>
            </a:pPr>
            <a:r>
              <a:rPr lang="en-US" sz="11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alignments/ </a:t>
            </a:r>
            <a:pPr indent="0" marL="0">
              <a:buNone/>
            </a:pPr>
            <a:r>
              <a:rPr lang="en-US" sz="110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MAFFT output
</a:t>
            </a:r>
            <a:pPr indent="0" marL="0">
              <a:buNone/>
            </a:pPr>
            <a:r>
              <a:rPr lang="en-US" sz="1100" b="1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Figures/
</a:t>
            </a:r>
            <a:pPr indent="0" marL="0">
              <a:buNone/>
            </a:pPr>
            <a:r>
              <a:rPr lang="en-US" sz="110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nucleotide_diversity_plot.pdf
</a:t>
            </a:r>
            <a:pPr indent="0" marL="0">
              <a:buNone/>
            </a:pPr>
            <a:r>
              <a:rPr lang="en-US" sz="110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nucleotide_diversity_plot.png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960120"/>
            <a:ext cx="4160520" cy="859536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3168" y="108813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94960" y="10332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nucleotide_diversity_results.txt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94960" y="139903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B55"/>
                </a:solidFill>
              </a:rPr>
              <a:t>Main report: π values for all genes, introns, and intergenic spacers in three sections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965960"/>
            <a:ext cx="4160520" cy="859536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209397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203911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nucleotide_diversity_by_position.txt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4960" y="24048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B55"/>
                </a:solidFill>
              </a:rPr>
              <a:t>Same data ordered by genomic position in the first species — useful for the plot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2971800"/>
            <a:ext cx="4160520" cy="859536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309981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94960" y="304495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genes/ introns/ intergenic/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341071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B55"/>
                </a:solidFill>
              </a:rPr>
              <a:t>Individual FASTA files per region — can be used independently with other tools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977640"/>
            <a:ext cx="4160520" cy="859536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410565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94960" y="405079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nucleotide_diversity_plot (PDF+PNG)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441655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B55"/>
                </a:solidFill>
              </a:rPr>
              <a:t>R-generated diversity plot with regions ordered by position; LSC/SSC/IR annotations when consistent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Step-by-Step: Practical Demo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8755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87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" y="99669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Install MAFFT (required first!)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44475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8132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Ubuntu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apt-get install mafft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macOS: brew install mafft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mafft --version  # verify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94436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94436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99923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" y="300837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Run the analysis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45643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9300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cgas_module13.py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or: cgas --module 13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or: cgas-diversity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93268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93268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98755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987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48656" y="99669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Review the text report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144475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48132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Module13_Diversity_Analysis/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nucleotide_diversity_results.txt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genes, introns, intergenic sections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94436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94436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99923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48656" y="300837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 the R diversity plot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45643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49300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Module13_Diversity_Analysis/Figures/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nucleotide_diversity_plot.pdf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regenerate: --figures-only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Common Issues &amp; Quick Fixes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6926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MAFFT not installed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23444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MAFFT is REQUIRED — sudo apt-get install mafft (Linux) or brew install mafft (macOS)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609344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609344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64592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Only 1 GenBank file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1911096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Need at least 2 files — π requires pairwise comparison; add more genomes to the folder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286000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32257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π = 0.0 for all regions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258775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All sequences may be identical — check your genomes are truly different species/accessions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962656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962656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999232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R figures not generating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326440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R is optional — text reports are complete; install R and ggplot2/readr/cowplot for the plot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3639312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639312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67588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Figures-only mode fails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3941064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Must run the full analysis first — --figures-only reads existing output files; they must exist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74320" y="4315968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315968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35254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LSC/SSC/IR not shown on plot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" y="461772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Junction positions vary across your species — check IR_junction_variability.txt in Figures/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Module 13 — Key Takeaways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32004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Module 13 — Key Takeaways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201168" cy="2011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-822960"/>
            <a:ext cx="3200400" cy="3200400"/>
          </a:xfrm>
          <a:prstGeom prst="ellipse">
            <a:avLst/>
          </a:prstGeom>
          <a:solidFill>
            <a:srgbClr val="1E6B42"/>
          </a:solidFill>
          <a:ln w="12700">
            <a:solidFill>
              <a:srgbClr val="1E6B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-182880"/>
            <a:ext cx="1920240" cy="1920240"/>
          </a:xfrm>
          <a:prstGeom prst="ellipse">
            <a:avLst/>
          </a:prstGeom>
          <a:solidFill>
            <a:srgbClr val="1A5C3A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43800" y="9144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🧬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47472" y="80467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BE"/>
                </a:solidFill>
              </a:rPr>
              <a:t>Comprehensive Nucleotide Diversity Analysis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148840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148840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2311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MAFFT required: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2231136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install before running — sudo apt-get install mafft or brew install mafft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642616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642616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7249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Min 2 GenBank files: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31720" y="2724912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π requires pairwise comparison — add at least two species to your folder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136392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136392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2186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Three region types: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31720" y="3218688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genes (lowest π) · introns (moderate π) · intergenic spacers (highest π)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630168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630168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7124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π interpretation: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31720" y="3712464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0 = identical · 0.1 = low variation · 1+ = high variation · 2+ = intergenic spacer level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123944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123944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42062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Figures-only mode: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331720" y="4206240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--figures-only regenerates R plots from existing data without re-running alignment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4617720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617720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47000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Cite MAFFT too: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331720" y="4700016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Katoh &amp; Standley (2013) MBE 30:772–780 — Module 13 depends on MAFFT for alignment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CGAS Module 13</dc:title>
  <dc:subject>PptxGenJS Presentation</dc:subject>
  <dc:creator>Abdullah</dc:creator>
  <cp:lastModifiedBy>Abdullah</cp:lastModifiedBy>
  <cp:revision>1</cp:revision>
  <dcterms:created xsi:type="dcterms:W3CDTF">2026-02-21T09:29:00Z</dcterms:created>
  <dcterms:modified xsi:type="dcterms:W3CDTF">2026-02-21T09:29:00Z</dcterms:modified>
</cp:coreProperties>
</file>