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1" r:id="rId4"/>
    <p:sldId id="263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04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2?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B2E"/>
                </a:solidFill>
              </a:rPr>
              <a:t>Takes assembled FASTA genomes from Module 1 → fully annotated, publication-ready GenBank files with gene features, structural regions and correct organism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2514600"/>
          </a:xfrm>
          <a:prstGeom prst="rect">
            <a:avLst/>
          </a:prstGeom>
          <a:solidFill>
            <a:srgbClr val="E8F6F5"/>
          </a:solidFill>
          <a:ln w="1905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02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PGA-Powered Annotation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21214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BLAST-based homology from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reference chloroplast .gb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fast and proven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43200" cy="2514600"/>
          </a:xfrm>
          <a:prstGeom prst="rect">
            <a:avLst/>
          </a:prstGeom>
          <a:solidFill>
            <a:srgbClr val="E8F6F5"/>
          </a:solidFill>
          <a:ln w="1905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2743200" cy="45720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002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Structural 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21214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Auto-detects LSC, SSC, IRA,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IRB and inserts them 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misc_feature entries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743200" cy="2514600"/>
          </a:xfrm>
          <a:prstGeom prst="rect">
            <a:avLst/>
          </a:prstGeom>
          <a:solidFill>
            <a:srgbClr val="E8F6F5"/>
          </a:solidFill>
          <a:ln w="1905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00200"/>
            <a:ext cx="2743200" cy="45720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002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Organism Names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21214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Maps SRR accessions or any other format 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species names via a simple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2E"/>
                </a:solidFill>
              </a:rPr>
              <a:t>tab-separated text file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224528"/>
            <a:ext cx="9144000" cy="576072"/>
          </a:xfrm>
          <a:prstGeom prst="rect">
            <a:avLst/>
          </a:prstGeom>
          <a:solidFill>
            <a:srgbClr val="E8F6F5"/>
          </a:solidFill>
          <a:ln w="12700">
            <a:solidFill>
              <a:srgbClr val="E8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6E6A"/>
                </a:solidFill>
              </a:rPr>
              <a:t>Note: Module 2 output requires manual curation in Modules 3 and 4 before final database submission.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Annotation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9576"/>
            <a:ext cx="621792" cy="621792"/>
          </a:xfrm>
          <a:prstGeom prst="ellipse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Input: Assembled FASTA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6E6A"/>
                </a:solidFill>
              </a:rPr>
              <a:t>From Module 1 — 07_assembled_genomes/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0008" y="2103120"/>
            <a:ext cx="0" cy="164592"/>
          </a:xfrm>
          <a:prstGeom prst="line">
            <a:avLst/>
          </a:prstGeom>
          <a:noFill/>
          <a:ln w="25400">
            <a:solidFill>
              <a:srgbClr val="1A8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67712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2471A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514600"/>
            <a:ext cx="621792" cy="62179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Reference GenBank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798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6E6A"/>
                </a:solidFill>
              </a:rPr>
              <a:t>Closely-related annotated .gb file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50008" y="3438144"/>
            <a:ext cx="0" cy="164592"/>
          </a:xfrm>
          <a:prstGeom prst="line">
            <a:avLst/>
          </a:prstGeom>
          <a:noFill/>
          <a:ln w="25400">
            <a:solidFill>
              <a:srgbClr val="1A8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02736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7D3C9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849624"/>
            <a:ext cx="621792" cy="62179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PGA Annotation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6E6A"/>
                </a:solidFill>
              </a:rPr>
              <a:t>BLAST-based homology transfer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932688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D354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1179576"/>
            <a:ext cx="621792" cy="62179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9612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Organism Name Mapping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6E6A"/>
                </a:solidFill>
              </a:rPr>
              <a:t>SRR accession → species name via organisms.txt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30568" y="2103120"/>
            <a:ext cx="0" cy="164592"/>
          </a:xfrm>
          <a:prstGeom prst="line">
            <a:avLst/>
          </a:prstGeom>
          <a:noFill/>
          <a:ln w="25400">
            <a:solidFill>
              <a:srgbClr val="1A8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267712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2514600"/>
            <a:ext cx="621792" cy="6217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9612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Structural Feature Addition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2798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6E6A"/>
                </a:solidFill>
              </a:rPr>
              <a:t>Auto-add LSC, SSC, IRA, IRB to .gb file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30568" y="3438144"/>
            <a:ext cx="0" cy="164592"/>
          </a:xfrm>
          <a:prstGeom prst="line">
            <a:avLst/>
          </a:prstGeom>
          <a:noFill/>
          <a:ln w="25400">
            <a:solidFill>
              <a:srgbClr val="1A8A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602736"/>
            <a:ext cx="4160520" cy="1170432"/>
          </a:xfrm>
          <a:prstGeom prst="rect">
            <a:avLst/>
          </a:prstGeom>
          <a:solidFill>
            <a:srgbClr val="E8F6F5"/>
          </a:solidFill>
          <a:ln w="254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849624"/>
            <a:ext cx="621792" cy="621792"/>
          </a:xfrm>
          <a:prstGeom prst="ellipse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9612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</a:rPr>
              <a:t>GenBank + Excel Reports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9612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6E6A"/>
                </a:solidFill>
              </a:rPr>
              <a:t>Publication-ready .gb + TSV/XLSX summaries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545"/>
          </a:solidFill>
          <a:ln w="127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D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module2_annotations/
</a:t>
            </a:r>
            <a:r>
              <a:rPr lang="en-US" sz="1100" dirty="0">
                <a:solidFill>
                  <a:srgbClr val="A8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Annotated_GenBank/  </a:t>
            </a:r>
            <a:r>
              <a:rPr lang="en-US" sz="1100" dirty="0">
                <a:solidFill>
                  <a:srgbClr val="5A9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.gb files
</a:t>
            </a:r>
            <a:r>
              <a:rPr lang="en-US" sz="1100" dirty="0">
                <a:solidFill>
                  <a:srgbClr val="A8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Species1_SRR_1.gb
│   └── Species2_SRR_1.gb
</a:t>
            </a:r>
            <a:r>
              <a:rPr lang="en-US" sz="1100" dirty="0">
                <a:solidFill>
                  <a:srgbClr val="5A9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r>
              <a:rPr lang="en-US" sz="1100" dirty="0">
                <a:solidFill>
                  <a:srgbClr val="A8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Annotation_Logs/    </a:t>
            </a:r>
            <a:r>
              <a:rPr lang="en-US" sz="1100" dirty="0">
                <a:solidFill>
                  <a:srgbClr val="5A9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PGA warnings
</a:t>
            </a:r>
            <a:r>
              <a:rPr lang="en-US" sz="1100" dirty="0">
                <a:solidFill>
                  <a:srgbClr val="A8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Species1_warning.log
│   └── Species2_warning.log
</a:t>
            </a:r>
            <a:r>
              <a:rPr lang="en-US" sz="1100" dirty="0">
                <a:solidFill>
                  <a:srgbClr val="5A9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r>
              <a:rPr lang="en-US" sz="1100" b="1" dirty="0">
                <a:solidFill>
                  <a:srgbClr val="5D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Reports/            </a:t>
            </a:r>
            <a:r>
              <a:rPr lang="en-US" sz="1100" dirty="0">
                <a:solidFill>
                  <a:srgbClr val="5A9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Summary stats
</a:t>
            </a:r>
            <a:r>
              <a:rPr lang="en-US" sz="1100" dirty="0">
                <a:solidFill>
                  <a:srgbClr val="A8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00_ANNOTATION_SUMMARY.tsv
</a:t>
            </a:r>
            <a:r>
              <a:rPr lang="en-US" sz="1100" b="1" dirty="0">
                <a:solidFill>
                  <a:srgbClr val="5D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00_ANNOTATION_SUMMARY.xlsx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6F5"/>
          </a:solidFill>
          <a:ln w="127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2"/>
                </a:solidFill>
              </a:rPr>
              <a:t>Annotated .gb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E6A"/>
                </a:solidFill>
              </a:rPr>
              <a:t>LSC, SSC, IRA, IRB + all genes — standard GenBank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6F5"/>
          </a:solidFill>
          <a:ln w="127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2"/>
                </a:solidFill>
              </a:rPr>
              <a:t>Warning Logs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E6A"/>
                </a:solidFill>
              </a:rPr>
              <a:t>PGA lists any unannotated genes per sample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6F5"/>
          </a:solidFill>
          <a:ln w="127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2"/>
                </a:solidFill>
              </a:rPr>
              <a:t>Excel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E6A"/>
                </a:solidFill>
              </a:rPr>
              <a:t>Genes annotated, annotation rate %, unannotated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6F5"/>
          </a:solidFill>
          <a:ln w="12700">
            <a:solidFill>
              <a:srgbClr val="1A8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2"/>
                </a:solidFill>
              </a:rPr>
              <a:t>TSV Summary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E6A"/>
                </a:solidFill>
              </a:rPr>
              <a:t>Machine-readable version of the same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2"/>
          </a:solidFill>
          <a:ln w="12700">
            <a:solidFill>
              <a:srgbClr val="1A52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Gets Added to Your GenBank 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6E6A"/>
                </a:solidFill>
              </a:rPr>
              <a:t>Every chloroplast genome has four structural regions — CGAS adds them all automatically: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3291840" cy="8046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LSC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~85 kb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353312"/>
            <a:ext cx="1280160" cy="8046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5331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IRB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~25 kb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1280160" cy="80467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5331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SSC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~20 kb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53312"/>
            <a:ext cx="1280160" cy="8046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5331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~25 kb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7132320" cy="0"/>
          </a:xfrm>
          <a:prstGeom prst="line">
            <a:avLst/>
          </a:prstGeom>
          <a:noFill/>
          <a:ln w="12700">
            <a:solidFill>
              <a:srgbClr val="1A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D6E6A"/>
                </a:solidFill>
              </a:rPr>
              <a:t>Total genome ~150–160 kb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6334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6E6A"/>
                </a:solidFill>
              </a:rPr>
              <a:t>These are inserted as misc_feature entries right after the source feature: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420624"/>
          </a:xfrm>
          <a:prstGeom prst="rect">
            <a:avLst/>
          </a:prstGeom>
          <a:solidFill>
            <a:srgbClr val="E8F6F5"/>
          </a:solidFill>
          <a:ln w="12700">
            <a:solidFill>
              <a:srgbClr val="E8F6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17520"/>
            <a:ext cx="73152" cy="42062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723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misc_feature  1..88000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307238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/note="large single copy (LSC)"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529584"/>
            <a:ext cx="8595360" cy="420624"/>
          </a:xfrm>
          <a:prstGeom prst="rect">
            <a:avLst/>
          </a:prstGeom>
          <a:solidFill>
            <a:srgbClr val="E8F6F5"/>
          </a:solidFill>
          <a:ln w="12700">
            <a:solidFill>
              <a:srgbClr val="E8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29584"/>
            <a:ext cx="73152" cy="42062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misc_feature  88001..95000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358444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/note="inverted repeat B (IRB)"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420624"/>
          </a:xfrm>
          <a:prstGeom prst="rect">
            <a:avLst/>
          </a:prstGeom>
          <a:solidFill>
            <a:srgbClr val="E8F6F5"/>
          </a:solidFill>
          <a:ln w="12700">
            <a:solidFill>
              <a:srgbClr val="E8F6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41648"/>
            <a:ext cx="73152" cy="42062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096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misc_feature  95001..155000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40965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/note="small single copy (SSC)"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553712"/>
            <a:ext cx="8595360" cy="420624"/>
          </a:xfrm>
          <a:prstGeom prst="rect">
            <a:avLst/>
          </a:prstGeom>
          <a:solidFill>
            <a:srgbClr val="E8F6F5"/>
          </a:solidFill>
          <a:ln w="12700">
            <a:solidFill>
              <a:srgbClr val="E8F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553712"/>
            <a:ext cx="73152" cy="42062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6085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misc_feature  155001..160000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460857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/note="inverted repeat A (IRA)"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432</Words>
  <Application>Microsoft Office PowerPoint</Application>
  <PresentationFormat>On-screen Show (16:9)</PresentationFormat>
  <Paragraphs>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2: Plastome Annotation using PGA</dc:title>
  <dc:subject>PptxGenJS Presentation</dc:subject>
  <dc:creator>Abdullah</dc:creator>
  <cp:lastModifiedBy>Abdullah</cp:lastModifiedBy>
  <cp:revision>7</cp:revision>
  <dcterms:created xsi:type="dcterms:W3CDTF">2026-02-19T11:21:39Z</dcterms:created>
  <dcterms:modified xsi:type="dcterms:W3CDTF">2026-03-11T09:50:04Z</dcterms:modified>
</cp:coreProperties>
</file>